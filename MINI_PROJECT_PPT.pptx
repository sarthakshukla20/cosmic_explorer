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sldIdLst>
    <p:sldId id="257" r:id="rId2"/>
    <p:sldId id="259" r:id="rId3"/>
    <p:sldId id="261" r:id="rId4"/>
    <p:sldId id="260" r:id="rId5"/>
    <p:sldId id="262" r:id="rId6"/>
    <p:sldId id="263" r:id="rId7"/>
    <p:sldId id="264" r:id="rId8"/>
    <p:sldId id="265" r:id="rId9"/>
    <p:sldId id="266" r:id="rId10"/>
    <p:sldId id="267" r:id="rId11"/>
    <p:sldId id="269"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50E017-6D51-4F56-AD0D-A84B308D1BC9}" v="47" dt="2025-12-23T17:21:57.8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964" autoAdjust="0"/>
    <p:restoredTop sz="94660"/>
  </p:normalViewPr>
  <p:slideViewPr>
    <p:cSldViewPr snapToGrid="0">
      <p:cViewPr varScale="1">
        <p:scale>
          <a:sx n="82" d="100"/>
          <a:sy n="82" d="100"/>
        </p:scale>
        <p:origin x="106"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thak Shukla" userId="e9acfa02e04a297e" providerId="LiveId" clId="{84916882-07B2-4695-891A-7E75BF447B0F}"/>
    <pc:docChg chg="undo redo custSel addSld delSld modSld sldOrd">
      <pc:chgData name="Sarthak Shukla" userId="e9acfa02e04a297e" providerId="LiveId" clId="{84916882-07B2-4695-891A-7E75BF447B0F}" dt="2025-12-23T17:56:39.748" v="811" actId="1076"/>
      <pc:docMkLst>
        <pc:docMk/>
      </pc:docMkLst>
      <pc:sldChg chg="addSp modSp add del mod ord modClrScheme chgLayout">
        <pc:chgData name="Sarthak Shukla" userId="e9acfa02e04a297e" providerId="LiveId" clId="{84916882-07B2-4695-891A-7E75BF447B0F}" dt="2025-12-23T17:41:36.386" v="807" actId="20578"/>
        <pc:sldMkLst>
          <pc:docMk/>
          <pc:sldMk cId="108234227" sldId="259"/>
        </pc:sldMkLst>
        <pc:picChg chg="add mod">
          <ac:chgData name="Sarthak Shukla" userId="e9acfa02e04a297e" providerId="LiveId" clId="{84916882-07B2-4695-891A-7E75BF447B0F}" dt="2025-12-23T16:44:01.855" v="744" actId="29295"/>
          <ac:picMkLst>
            <pc:docMk/>
            <pc:sldMk cId="108234227" sldId="259"/>
            <ac:picMk id="8" creationId="{A4CC872D-EF07-96EC-D932-5B4A4AA5369C}"/>
          </ac:picMkLst>
        </pc:picChg>
      </pc:sldChg>
      <pc:sldChg chg="addSp modSp mod">
        <pc:chgData name="Sarthak Shukla" userId="e9acfa02e04a297e" providerId="LiveId" clId="{84916882-07B2-4695-891A-7E75BF447B0F}" dt="2025-12-23T16:54:40.487" v="754" actId="29295"/>
        <pc:sldMkLst>
          <pc:docMk/>
          <pc:sldMk cId="1685561699" sldId="261"/>
        </pc:sldMkLst>
        <pc:picChg chg="add mod">
          <ac:chgData name="Sarthak Shukla" userId="e9acfa02e04a297e" providerId="LiveId" clId="{84916882-07B2-4695-891A-7E75BF447B0F}" dt="2025-12-23T16:54:40.487" v="754" actId="29295"/>
          <ac:picMkLst>
            <pc:docMk/>
            <pc:sldMk cId="1685561699" sldId="261"/>
            <ac:picMk id="8" creationId="{0AAD0A97-AECF-5ACC-B930-D3A2DE4FC664}"/>
          </ac:picMkLst>
        </pc:picChg>
      </pc:sldChg>
      <pc:sldChg chg="addSp modSp mod">
        <pc:chgData name="Sarthak Shukla" userId="e9acfa02e04a297e" providerId="LiveId" clId="{84916882-07B2-4695-891A-7E75BF447B0F}" dt="2025-12-23T16:57:42.023" v="760" actId="1076"/>
        <pc:sldMkLst>
          <pc:docMk/>
          <pc:sldMk cId="459212451" sldId="263"/>
        </pc:sldMkLst>
        <pc:picChg chg="add mod">
          <ac:chgData name="Sarthak Shukla" userId="e9acfa02e04a297e" providerId="LiveId" clId="{84916882-07B2-4695-891A-7E75BF447B0F}" dt="2025-12-23T16:57:42.023" v="760" actId="1076"/>
          <ac:picMkLst>
            <pc:docMk/>
            <pc:sldMk cId="459212451" sldId="263"/>
            <ac:picMk id="4" creationId="{C9A68ED0-E526-92A8-D8AF-E4FF3E5CEE83}"/>
          </ac:picMkLst>
        </pc:picChg>
      </pc:sldChg>
      <pc:sldChg chg="addSp modSp mod">
        <pc:chgData name="Sarthak Shukla" userId="e9acfa02e04a297e" providerId="LiveId" clId="{84916882-07B2-4695-891A-7E75BF447B0F}" dt="2025-12-23T17:56:39.748" v="811" actId="1076"/>
        <pc:sldMkLst>
          <pc:docMk/>
          <pc:sldMk cId="2767165426" sldId="264"/>
        </pc:sldMkLst>
        <pc:spChg chg="mod">
          <ac:chgData name="Sarthak Shukla" userId="e9acfa02e04a297e" providerId="LiveId" clId="{84916882-07B2-4695-891A-7E75BF447B0F}" dt="2025-12-23T17:56:39.748" v="811" actId="1076"/>
          <ac:spMkLst>
            <pc:docMk/>
            <pc:sldMk cId="2767165426" sldId="264"/>
            <ac:spMk id="4" creationId="{00790DC1-F04E-2A70-B528-E645A502E93D}"/>
          </ac:spMkLst>
        </pc:spChg>
        <pc:picChg chg="add mod">
          <ac:chgData name="Sarthak Shukla" userId="e9acfa02e04a297e" providerId="LiveId" clId="{84916882-07B2-4695-891A-7E75BF447B0F}" dt="2025-12-23T17:01:15.568" v="768" actId="1076"/>
          <ac:picMkLst>
            <pc:docMk/>
            <pc:sldMk cId="2767165426" sldId="264"/>
            <ac:picMk id="6" creationId="{5B7320C2-FC4F-1E96-6185-38BA000247C7}"/>
          </ac:picMkLst>
        </pc:picChg>
      </pc:sldChg>
      <pc:sldChg chg="addSp modSp mod">
        <pc:chgData name="Sarthak Shukla" userId="e9acfa02e04a297e" providerId="LiveId" clId="{84916882-07B2-4695-891A-7E75BF447B0F}" dt="2025-12-23T17:05:57.253" v="779" actId="29295"/>
        <pc:sldMkLst>
          <pc:docMk/>
          <pc:sldMk cId="1276406420" sldId="267"/>
        </pc:sldMkLst>
        <pc:picChg chg="add mod">
          <ac:chgData name="Sarthak Shukla" userId="e9acfa02e04a297e" providerId="LiveId" clId="{84916882-07B2-4695-891A-7E75BF447B0F}" dt="2025-12-23T17:05:57.253" v="779" actId="29295"/>
          <ac:picMkLst>
            <pc:docMk/>
            <pc:sldMk cId="1276406420" sldId="267"/>
            <ac:picMk id="6" creationId="{626D8F12-100E-3348-F610-0013F464D7AE}"/>
          </ac:picMkLst>
        </pc:picChg>
      </pc:sldChg>
      <pc:sldChg chg="addSp modSp mod">
        <pc:chgData name="Sarthak Shukla" userId="e9acfa02e04a297e" providerId="LiveId" clId="{84916882-07B2-4695-891A-7E75BF447B0F}" dt="2025-12-23T17:23:53.780" v="804" actId="1076"/>
        <pc:sldMkLst>
          <pc:docMk/>
          <pc:sldMk cId="1685112715" sldId="269"/>
        </pc:sldMkLst>
        <pc:spChg chg="mod">
          <ac:chgData name="Sarthak Shukla" userId="e9acfa02e04a297e" providerId="LiveId" clId="{84916882-07B2-4695-891A-7E75BF447B0F}" dt="2025-12-23T17:23:53.780" v="804" actId="1076"/>
          <ac:spMkLst>
            <pc:docMk/>
            <pc:sldMk cId="1685112715" sldId="269"/>
            <ac:spMk id="4" creationId="{900BC052-63EE-72EA-3330-6D07E9BB401F}"/>
          </ac:spMkLst>
        </pc:spChg>
        <pc:picChg chg="add mod">
          <ac:chgData name="Sarthak Shukla" userId="e9acfa02e04a297e" providerId="LiveId" clId="{84916882-07B2-4695-891A-7E75BF447B0F}" dt="2025-12-23T17:08:15.329" v="785" actId="29295"/>
          <ac:picMkLst>
            <pc:docMk/>
            <pc:sldMk cId="1685112715" sldId="269"/>
            <ac:picMk id="6" creationId="{87DA5204-F435-8E85-4FF5-AE9DC6BD0419}"/>
          </ac:picMkLst>
        </pc:picChg>
      </pc:sldChg>
      <pc:sldChg chg="addSp modSp mod">
        <pc:chgData name="Sarthak Shukla" userId="e9acfa02e04a297e" providerId="LiveId" clId="{84916882-07B2-4695-891A-7E75BF447B0F}" dt="2025-12-23T17:23:22.811" v="803" actId="14100"/>
        <pc:sldMkLst>
          <pc:docMk/>
          <pc:sldMk cId="3700476501" sldId="270"/>
        </pc:sldMkLst>
        <pc:spChg chg="mod">
          <ac:chgData name="Sarthak Shukla" userId="e9acfa02e04a297e" providerId="LiveId" clId="{84916882-07B2-4695-891A-7E75BF447B0F}" dt="2025-12-23T17:22:28.024" v="798" actId="1076"/>
          <ac:spMkLst>
            <pc:docMk/>
            <pc:sldMk cId="3700476501" sldId="270"/>
            <ac:spMk id="2" creationId="{9A1E743E-3163-BD7C-29D9-92D1A6FC7571}"/>
          </ac:spMkLst>
        </pc:spChg>
        <pc:picChg chg="add mod">
          <ac:chgData name="Sarthak Shukla" userId="e9acfa02e04a297e" providerId="LiveId" clId="{84916882-07B2-4695-891A-7E75BF447B0F}" dt="2025-12-23T17:11:02.418" v="790" actId="931"/>
          <ac:picMkLst>
            <pc:docMk/>
            <pc:sldMk cId="3700476501" sldId="270"/>
            <ac:picMk id="6" creationId="{56B054F1-4EED-2C65-A977-2614B9859EBD}"/>
          </ac:picMkLst>
        </pc:picChg>
        <pc:picChg chg="add mod">
          <ac:chgData name="Sarthak Shukla" userId="e9acfa02e04a297e" providerId="LiveId" clId="{84916882-07B2-4695-891A-7E75BF447B0F}" dt="2025-12-23T17:23:22.811" v="803" actId="14100"/>
          <ac:picMkLst>
            <pc:docMk/>
            <pc:sldMk cId="3700476501" sldId="270"/>
            <ac:picMk id="10" creationId="{158183D5-3556-6500-D83E-6FA198D9BDA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F59B94-72AB-4A40-B71F-6A00F6B9F5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633300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F59B94-72AB-4A40-B71F-6A00F6B9F5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3727755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F59B94-72AB-4A40-B71F-6A00F6B9F5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4261889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F59B94-72AB-4A40-B71F-6A00F6B9F545}"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41880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F59B94-72AB-4A40-B71F-6A00F6B9F545}" type="datetimeFigureOut">
              <a:rPr lang="en-IN" smtClean="0"/>
              <a:t>23-12-2025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1525291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F59B94-72AB-4A40-B71F-6A00F6B9F545}" type="datetimeFigureOut">
              <a:rPr lang="en-IN" smtClean="0"/>
              <a:t>23-12-2025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178537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F59B94-72AB-4A40-B71F-6A00F6B9F545}" type="datetimeFigureOut">
              <a:rPr lang="en-IN" smtClean="0"/>
              <a:t>23-12-2025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867925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F59B94-72AB-4A40-B71F-6A00F6B9F545}"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3302679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59B94-72AB-4A40-B71F-6A00F6B9F545}"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3669675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F59B94-72AB-4A40-B71F-6A00F6B9F5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3175873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F59B94-72AB-4A40-B71F-6A00F6B9F5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0A14C-6EC4-421D-8A5B-E64A80E9AE3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78410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F59B94-72AB-4A40-B71F-6A00F6B9F5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21432391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F59B94-72AB-4A40-B71F-6A00F6B9F5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0A14C-6EC4-421D-8A5B-E64A80E9AE3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177966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F59B94-72AB-4A40-B71F-6A00F6B9F5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14533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F59B94-72AB-4A40-B71F-6A00F6B9F5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319113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F59B94-72AB-4A40-B71F-6A00F6B9F54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0A14C-6EC4-421D-8A5B-E64A80E9AE3C}" type="slidenum">
              <a:rPr lang="en-IN" smtClean="0"/>
              <a:t>‹#›</a:t>
            </a:fld>
            <a:endParaRPr lang="en-IN"/>
          </a:p>
        </p:txBody>
      </p:sp>
    </p:spTree>
    <p:extLst>
      <p:ext uri="{BB962C8B-B14F-4D97-AF65-F5344CB8AC3E}">
        <p14:creationId xmlns:p14="http://schemas.microsoft.com/office/powerpoint/2010/main" val="1830489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5F59B94-72AB-4A40-B71F-6A00F6B9F545}" type="datetimeFigureOut">
              <a:rPr lang="en-IN" smtClean="0"/>
              <a:t>23-12-2025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AC0A14C-6EC4-421D-8A5B-E64A80E9AE3C}" type="slidenum">
              <a:rPr lang="en-IN" smtClean="0"/>
              <a:t>‹#›</a:t>
            </a:fld>
            <a:endParaRPr lang="en-IN"/>
          </a:p>
        </p:txBody>
      </p:sp>
    </p:spTree>
    <p:extLst>
      <p:ext uri="{BB962C8B-B14F-4D97-AF65-F5344CB8AC3E}">
        <p14:creationId xmlns:p14="http://schemas.microsoft.com/office/powerpoint/2010/main" val="3114170234"/>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8.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04D4D-FC73-BFE9-FFBE-53E8373A6058}"/>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2D85F43-5F68-E887-4439-9B30C88F01F5}"/>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65C9C0F0-55CF-E927-B752-449CA1B635D0}"/>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6293CAD3-E884-4CA9-09D6-35CC03D84AA4}"/>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CCCECE-66DE-A275-EC8F-C1F3CE63B3EF}"/>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E4AFD76D-C322-CCEC-3E77-8E920C5B8143}"/>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A639C794-1856-24CA-5836-6E7E761B8157}"/>
              </a:ext>
            </a:extLst>
          </p:cNvPr>
          <p:cNvPicPr>
            <a:picLocks noChangeAspect="1"/>
          </p:cNvPicPr>
          <p:nvPr/>
        </p:nvPicPr>
        <p:blipFill>
          <a:blip r:embed="rId3"/>
          <a:stretch>
            <a:fillRect/>
          </a:stretch>
        </p:blipFill>
        <p:spPr>
          <a:xfrm>
            <a:off x="6242052" y="-91440"/>
            <a:ext cx="5803895" cy="557348"/>
          </a:xfrm>
          <a:prstGeom prst="rect">
            <a:avLst/>
          </a:prstGeom>
        </p:spPr>
      </p:pic>
      <p:grpSp>
        <p:nvGrpSpPr>
          <p:cNvPr id="33" name="Group 32">
            <a:extLst>
              <a:ext uri="{FF2B5EF4-FFF2-40B4-BE49-F238E27FC236}">
                <a16:creationId xmlns:a16="http://schemas.microsoft.com/office/drawing/2014/main" id="{75B5D86C-43DA-D206-C8EC-F530428DDE31}"/>
              </a:ext>
            </a:extLst>
          </p:cNvPr>
          <p:cNvGrpSpPr/>
          <p:nvPr/>
        </p:nvGrpSpPr>
        <p:grpSpPr>
          <a:xfrm>
            <a:off x="3462098" y="879539"/>
            <a:ext cx="5490157" cy="3898503"/>
            <a:chOff x="3461719" y="913676"/>
            <a:chExt cx="5490157" cy="3898503"/>
          </a:xfrm>
        </p:grpSpPr>
        <p:pic>
          <p:nvPicPr>
            <p:cNvPr id="12" name="Google Shape;87;p1" descr="Goel Institute of Technology and Management (GITM) Lucknow Admission  2021-2021">
              <a:extLst>
                <a:ext uri="{FF2B5EF4-FFF2-40B4-BE49-F238E27FC236}">
                  <a16:creationId xmlns:a16="http://schemas.microsoft.com/office/drawing/2014/main" id="{00F12C58-6FEA-409D-BCB2-634B69E59DBF}"/>
                </a:ext>
              </a:extLst>
            </p:cNvPr>
            <p:cNvPicPr preferRelativeResize="0"/>
            <p:nvPr/>
          </p:nvPicPr>
          <p:blipFill rotWithShape="1">
            <a:blip r:embed="rId2">
              <a:alphaModFix/>
            </a:blip>
            <a:srcRect/>
            <a:stretch/>
          </p:blipFill>
          <p:spPr>
            <a:xfrm>
              <a:off x="5366294" y="2266550"/>
              <a:ext cx="1483923" cy="1477328"/>
            </a:xfrm>
            <a:prstGeom prst="rect">
              <a:avLst/>
            </a:prstGeom>
            <a:noFill/>
            <a:ln>
              <a:noFill/>
            </a:ln>
          </p:spPr>
        </p:pic>
        <p:sp>
          <p:nvSpPr>
            <p:cNvPr id="24" name="Rectangle 23">
              <a:extLst>
                <a:ext uri="{FF2B5EF4-FFF2-40B4-BE49-F238E27FC236}">
                  <a16:creationId xmlns:a16="http://schemas.microsoft.com/office/drawing/2014/main" id="{889ADDA9-3B3A-FF8D-5D71-033AD0866C99}"/>
                </a:ext>
              </a:extLst>
            </p:cNvPr>
            <p:cNvSpPr/>
            <p:nvPr/>
          </p:nvSpPr>
          <p:spPr>
            <a:xfrm>
              <a:off x="3680015" y="913676"/>
              <a:ext cx="4836160" cy="1200329"/>
            </a:xfrm>
            <a:prstGeom prst="rect">
              <a:avLst/>
            </a:prstGeom>
          </p:spPr>
          <p:txBody>
            <a:bodyPr wrap="square">
              <a:spAutoFit/>
            </a:bodyPr>
            <a:lstStyle/>
            <a:p>
              <a:pPr algn="ctr"/>
              <a:r>
                <a:rPr lang="en-IN" b="1" dirty="0">
                  <a:latin typeface="Bell MT" panose="02020503060305020303" pitchFamily="18" charset="0"/>
                </a:rPr>
                <a:t>A</a:t>
              </a:r>
            </a:p>
            <a:p>
              <a:pPr algn="ctr"/>
              <a:r>
                <a:rPr lang="en-IN" b="1" dirty="0">
                  <a:latin typeface="Bell MT" panose="02020503060305020303" pitchFamily="18" charset="0"/>
                </a:rPr>
                <a:t>MINI PROJECT PRESENTATION</a:t>
              </a:r>
            </a:p>
            <a:p>
              <a:pPr algn="ctr"/>
              <a:r>
                <a:rPr lang="en-IN" b="1" dirty="0">
                  <a:latin typeface="Bell MT" panose="02020503060305020303" pitchFamily="18" charset="0"/>
                </a:rPr>
                <a:t>ON</a:t>
              </a:r>
            </a:p>
            <a:p>
              <a:pPr algn="ctr"/>
              <a:r>
                <a:rPr lang="en-IN" b="1" dirty="0">
                  <a:solidFill>
                    <a:srgbClr val="FF0000"/>
                  </a:solidFill>
                  <a:latin typeface="Bell MT" panose="02020503060305020303" pitchFamily="18" charset="0"/>
                </a:rPr>
                <a:t>COSMIC EXPLORER</a:t>
              </a:r>
            </a:p>
          </p:txBody>
        </p:sp>
        <p:sp>
          <p:nvSpPr>
            <p:cNvPr id="28" name="TextBox 27">
              <a:extLst>
                <a:ext uri="{FF2B5EF4-FFF2-40B4-BE49-F238E27FC236}">
                  <a16:creationId xmlns:a16="http://schemas.microsoft.com/office/drawing/2014/main" id="{B74EE7D6-5AC5-B9A1-21DC-1CC1A3DFDE80}"/>
                </a:ext>
              </a:extLst>
            </p:cNvPr>
            <p:cNvSpPr txBox="1"/>
            <p:nvPr/>
          </p:nvSpPr>
          <p:spPr>
            <a:xfrm>
              <a:off x="4947541" y="3843632"/>
              <a:ext cx="2950210" cy="461665"/>
            </a:xfrm>
            <a:prstGeom prst="rect">
              <a:avLst/>
            </a:prstGeom>
            <a:noFill/>
          </p:spPr>
          <p:txBody>
            <a:bodyPr wrap="square" rtlCol="0">
              <a:spAutoFit/>
            </a:bodyPr>
            <a:lstStyle/>
            <a:p>
              <a:r>
                <a:rPr lang="en-IN" sz="2400" b="1" dirty="0">
                  <a:solidFill>
                    <a:srgbClr val="FF0000"/>
                  </a:solidFill>
                  <a:latin typeface="Aparajita" panose="02020603050405020304" pitchFamily="18" charset="0"/>
                  <a:cs typeface="Aparajita" panose="02020603050405020304" pitchFamily="18" charset="0"/>
                </a:rPr>
                <a:t>SESSION</a:t>
              </a:r>
              <a:r>
                <a:rPr lang="en-IN" sz="2400" b="1" dirty="0">
                  <a:latin typeface="Aparajita" panose="02020603050405020304" pitchFamily="18" charset="0"/>
                  <a:cs typeface="Aparajita" panose="02020603050405020304" pitchFamily="18" charset="0"/>
                </a:rPr>
                <a:t> 2025-2026</a:t>
              </a:r>
            </a:p>
          </p:txBody>
        </p:sp>
        <p:sp>
          <p:nvSpPr>
            <p:cNvPr id="29" name="Rectangle 28">
              <a:extLst>
                <a:ext uri="{FF2B5EF4-FFF2-40B4-BE49-F238E27FC236}">
                  <a16:creationId xmlns:a16="http://schemas.microsoft.com/office/drawing/2014/main" id="{7CB23EC2-2C9B-E289-CFA4-80F1C2B8198D}"/>
                </a:ext>
              </a:extLst>
            </p:cNvPr>
            <p:cNvSpPr/>
            <p:nvPr/>
          </p:nvSpPr>
          <p:spPr>
            <a:xfrm>
              <a:off x="3461719" y="4165848"/>
              <a:ext cx="5490157" cy="646331"/>
            </a:xfrm>
            <a:prstGeom prst="rect">
              <a:avLst/>
            </a:prstGeom>
          </p:spPr>
          <p:txBody>
            <a:bodyPr wrap="none">
              <a:spAutoFit/>
            </a:bodyPr>
            <a:lstStyle/>
            <a:p>
              <a:r>
                <a:rPr lang="en-IN" b="1" dirty="0">
                  <a:latin typeface="Bell MT" panose="02020503060305020303" pitchFamily="18" charset="0"/>
                </a:rPr>
                <a:t>DEPARTMENT OF ARTIFICIAL INTELLIGENCE</a:t>
              </a:r>
            </a:p>
            <a:p>
              <a:r>
                <a:rPr lang="en-IN" b="1" dirty="0">
                  <a:latin typeface="Bell MT" panose="02020503060305020303" pitchFamily="18" charset="0"/>
                </a:rPr>
                <a:t>                    &amp; MACHINE LEARNING</a:t>
              </a:r>
            </a:p>
          </p:txBody>
        </p:sp>
      </p:grpSp>
      <p:sp>
        <p:nvSpPr>
          <p:cNvPr id="30" name="Rectangle 29">
            <a:extLst>
              <a:ext uri="{FF2B5EF4-FFF2-40B4-BE49-F238E27FC236}">
                <a16:creationId xmlns:a16="http://schemas.microsoft.com/office/drawing/2014/main" id="{5C5BE78B-6172-3960-4247-6DCBC39B2266}"/>
              </a:ext>
            </a:extLst>
          </p:cNvPr>
          <p:cNvSpPr/>
          <p:nvPr/>
        </p:nvSpPr>
        <p:spPr>
          <a:xfrm>
            <a:off x="623272" y="5325071"/>
            <a:ext cx="3328968" cy="923330"/>
          </a:xfrm>
          <a:prstGeom prst="rect">
            <a:avLst/>
          </a:prstGeom>
        </p:spPr>
        <p:txBody>
          <a:bodyPr wrap="square">
            <a:spAutoFit/>
          </a:bodyPr>
          <a:lstStyle/>
          <a:p>
            <a:r>
              <a:rPr lang="en-US" b="1" dirty="0">
                <a:solidFill>
                  <a:srgbClr val="FF0000"/>
                </a:solidFill>
                <a:latin typeface="Bell MT" panose="02020503060305020303" pitchFamily="18" charset="0"/>
              </a:rPr>
              <a:t>Presented to -              </a:t>
            </a:r>
          </a:p>
          <a:p>
            <a:r>
              <a:rPr lang="en-US" b="1" dirty="0">
                <a:latin typeface="Bell MT" panose="02020503060305020303" pitchFamily="18" charset="0"/>
              </a:rPr>
              <a:t>MR. ROHIT YADAV</a:t>
            </a:r>
          </a:p>
          <a:p>
            <a:r>
              <a:rPr lang="en-US" b="1" dirty="0">
                <a:latin typeface="Bell MT" panose="02020503060305020303" pitchFamily="18" charset="0"/>
              </a:rPr>
              <a:t>(ASSISTANT PROFESSOR)</a:t>
            </a:r>
          </a:p>
        </p:txBody>
      </p:sp>
      <p:sp>
        <p:nvSpPr>
          <p:cNvPr id="32" name="Rectangle 31">
            <a:extLst>
              <a:ext uri="{FF2B5EF4-FFF2-40B4-BE49-F238E27FC236}">
                <a16:creationId xmlns:a16="http://schemas.microsoft.com/office/drawing/2014/main" id="{9FD6C060-885A-ADCE-386B-167E8ADFA7DA}"/>
              </a:ext>
            </a:extLst>
          </p:cNvPr>
          <p:cNvSpPr/>
          <p:nvPr/>
        </p:nvSpPr>
        <p:spPr>
          <a:xfrm>
            <a:off x="7150046" y="5306978"/>
            <a:ext cx="4625394" cy="646331"/>
          </a:xfrm>
          <a:prstGeom prst="rect">
            <a:avLst/>
          </a:prstGeom>
        </p:spPr>
        <p:txBody>
          <a:bodyPr wrap="square">
            <a:spAutoFit/>
          </a:bodyPr>
          <a:lstStyle/>
          <a:p>
            <a:r>
              <a:rPr lang="en-US" b="1" dirty="0">
                <a:solidFill>
                  <a:srgbClr val="FF0000"/>
                </a:solidFill>
                <a:latin typeface="Bell MT" panose="02020503060305020303" pitchFamily="18" charset="0"/>
              </a:rPr>
              <a:t>                     Presented by -  </a:t>
            </a:r>
          </a:p>
          <a:p>
            <a:r>
              <a:rPr lang="en-US" b="1" dirty="0">
                <a:solidFill>
                  <a:srgbClr val="FF0000"/>
                </a:solidFill>
                <a:latin typeface="Bell MT" panose="02020503060305020303" pitchFamily="18" charset="0"/>
              </a:rPr>
              <a:t>                     </a:t>
            </a:r>
            <a:r>
              <a:rPr lang="en-US" b="1" dirty="0">
                <a:latin typeface="Bell MT" panose="02020503060305020303" pitchFamily="18" charset="0"/>
              </a:rPr>
              <a:t>SARTHAK SHUKLA</a:t>
            </a:r>
            <a:r>
              <a:rPr lang="en-US" b="1" dirty="0">
                <a:solidFill>
                  <a:srgbClr val="FF0000"/>
                </a:solidFill>
                <a:latin typeface="Bell MT" panose="02020503060305020303" pitchFamily="18" charset="0"/>
              </a:rPr>
              <a:t>               </a:t>
            </a:r>
          </a:p>
        </p:txBody>
      </p:sp>
    </p:spTree>
    <p:extLst>
      <p:ext uri="{BB962C8B-B14F-4D97-AF65-F5344CB8AC3E}">
        <p14:creationId xmlns:p14="http://schemas.microsoft.com/office/powerpoint/2010/main" val="3256858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p:cNvPicPr preferRelativeResize="0"/>
          <p:nvPr/>
        </p:nvPicPr>
        <p:blipFill rotWithShape="1">
          <a:blip r:embed="rId2">
            <a:alphaModFix/>
          </a:blip>
          <a:srcRect/>
          <a:stretch/>
        </p:blipFill>
        <p:spPr>
          <a:xfrm>
            <a:off x="111856" y="220101"/>
            <a:ext cx="615223" cy="584717"/>
          </a:xfrm>
          <a:prstGeom prst="rect">
            <a:avLst/>
          </a:prstGeom>
          <a:noFill/>
          <a:ln>
            <a:noFill/>
          </a:ln>
        </p:spPr>
      </p:pic>
      <p:pic>
        <p:nvPicPr>
          <p:cNvPr id="23" name="Picture 22"/>
          <p:cNvPicPr>
            <a:picLocks noChangeAspect="1"/>
          </p:cNvPicPr>
          <p:nvPr/>
        </p:nvPicPr>
        <p:blipFill>
          <a:blip r:embed="rId3"/>
          <a:stretch>
            <a:fillRect/>
          </a:stretch>
        </p:blipFill>
        <p:spPr>
          <a:xfrm>
            <a:off x="6242052" y="-91440"/>
            <a:ext cx="5803895" cy="557348"/>
          </a:xfrm>
          <a:prstGeom prst="rect">
            <a:avLst/>
          </a:prstGeom>
        </p:spPr>
      </p:pic>
      <p:sp>
        <p:nvSpPr>
          <p:cNvPr id="2" name="Title 1">
            <a:extLst>
              <a:ext uri="{FF2B5EF4-FFF2-40B4-BE49-F238E27FC236}">
                <a16:creationId xmlns:a16="http://schemas.microsoft.com/office/drawing/2014/main" id="{7B04D65B-FED6-1FDA-2FA8-F2A7926C7E87}"/>
              </a:ext>
            </a:extLst>
          </p:cNvPr>
          <p:cNvSpPr>
            <a:spLocks noGrp="1"/>
          </p:cNvSpPr>
          <p:nvPr>
            <p:ph type="ctrTitle"/>
          </p:nvPr>
        </p:nvSpPr>
        <p:spPr/>
        <p:txBody>
          <a:bodyPr/>
          <a:lstStyle/>
          <a:p>
            <a:r>
              <a:rPr lang="en-US" sz="5400" b="1" dirty="0">
                <a:solidFill>
                  <a:schemeClr val="dk1"/>
                </a:solidFill>
                <a:latin typeface="Syne"/>
                <a:ea typeface="Syne"/>
              </a:rPr>
              <a:t>Cosmic</a:t>
            </a:r>
            <a:r>
              <a:rPr lang="en-US" b="1" dirty="0">
                <a:solidFill>
                  <a:schemeClr val="dk1"/>
                </a:solidFill>
                <a:latin typeface="Syne"/>
                <a:ea typeface="Syne"/>
              </a:rPr>
              <a:t> Explorer</a:t>
            </a:r>
            <a:endParaRPr lang="en-IN" dirty="0"/>
          </a:p>
        </p:txBody>
      </p:sp>
      <p:sp>
        <p:nvSpPr>
          <p:cNvPr id="4" name="Subtitle 3">
            <a:extLst>
              <a:ext uri="{FF2B5EF4-FFF2-40B4-BE49-F238E27FC236}">
                <a16:creationId xmlns:a16="http://schemas.microsoft.com/office/drawing/2014/main" id="{4C565D02-9EC1-3B71-64FD-F50192716E10}"/>
              </a:ext>
            </a:extLst>
          </p:cNvPr>
          <p:cNvSpPr>
            <a:spLocks noGrp="1"/>
          </p:cNvSpPr>
          <p:nvPr>
            <p:ph type="subTitle" idx="1"/>
          </p:nvPr>
        </p:nvSpPr>
        <p:spPr/>
        <p:txBody>
          <a:bodyPr/>
          <a:lstStyle/>
          <a:p>
            <a:r>
              <a:rPr lang="en-US" dirty="0">
                <a:solidFill>
                  <a:schemeClr val="dk1"/>
                </a:solidFill>
                <a:latin typeface="Cabin"/>
                <a:ea typeface="Cabin"/>
              </a:rPr>
              <a:t>An Interactive Space Learning Portal</a:t>
            </a:r>
            <a:endParaRPr lang="en-US" dirty="0">
              <a:solidFill>
                <a:srgbClr val="FFFFFF"/>
              </a:solidFill>
              <a:latin typeface="OpenSymbol"/>
            </a:endParaRPr>
          </a:p>
          <a:p>
            <a:endParaRPr lang="en-IN" dirty="0"/>
          </a:p>
        </p:txBody>
      </p:sp>
      <p:pic>
        <p:nvPicPr>
          <p:cNvPr id="8" name="Picture 7">
            <a:extLst>
              <a:ext uri="{FF2B5EF4-FFF2-40B4-BE49-F238E27FC236}">
                <a16:creationId xmlns:a16="http://schemas.microsoft.com/office/drawing/2014/main" id="{A4CC872D-EF07-96EC-D932-5B4A4AA5369C}"/>
              </a:ext>
            </a:extLst>
          </p:cNvPr>
          <p:cNvPicPr>
            <a:picLocks noChangeAspect="1"/>
          </p:cNvPicPr>
          <p:nvPr/>
        </p:nvPicPr>
        <p:blipFill>
          <a:blip r:embed="rId4">
            <a:alphaModFix amt="35000"/>
            <a:extLst>
              <a:ext uri="{28A0092B-C50C-407E-A947-70E740481C1C}">
                <a14:useLocalDpi xmlns:a14="http://schemas.microsoft.com/office/drawing/2010/main" val="0"/>
              </a:ext>
            </a:extLst>
          </a:blip>
          <a:stretch>
            <a:fillRect/>
          </a:stretch>
        </p:blipFill>
        <p:spPr>
          <a:xfrm>
            <a:off x="-626" y="0"/>
            <a:ext cx="12192626" cy="6858000"/>
          </a:xfrm>
          <a:prstGeom prst="rect">
            <a:avLst/>
          </a:prstGeom>
        </p:spPr>
      </p:pic>
    </p:spTree>
    <p:extLst>
      <p:ext uri="{BB962C8B-B14F-4D97-AF65-F5344CB8AC3E}">
        <p14:creationId xmlns:p14="http://schemas.microsoft.com/office/powerpoint/2010/main" val="108234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01658-1B77-125A-C91A-D9CB8ED04FBB}"/>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67CAC11-D542-47AA-D4A9-3164574D2CED}"/>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92C0D98F-B3F8-676F-B9B3-16C9AC8E0219}"/>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2B549A89-CF16-C02F-729C-E1172F249787}"/>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248280A-1F5A-4FE4-187E-A22882D61AB4}"/>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F1672836-862B-0B68-AD59-44056D6748F0}"/>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177C286B-4E88-3591-FEE8-44A36F1AB359}"/>
              </a:ext>
            </a:extLst>
          </p:cNvPr>
          <p:cNvPicPr>
            <a:picLocks noChangeAspect="1"/>
          </p:cNvPicPr>
          <p:nvPr/>
        </p:nvPicPr>
        <p:blipFill>
          <a:blip r:embed="rId3"/>
          <a:stretch>
            <a:fillRect/>
          </a:stretch>
        </p:blipFill>
        <p:spPr>
          <a:xfrm>
            <a:off x="6242052" y="-91440"/>
            <a:ext cx="5803895" cy="557348"/>
          </a:xfrm>
          <a:prstGeom prst="rect">
            <a:avLst/>
          </a:prstGeom>
        </p:spPr>
      </p:pic>
      <p:sp>
        <p:nvSpPr>
          <p:cNvPr id="2" name="Title 1">
            <a:extLst>
              <a:ext uri="{FF2B5EF4-FFF2-40B4-BE49-F238E27FC236}">
                <a16:creationId xmlns:a16="http://schemas.microsoft.com/office/drawing/2014/main" id="{9AB199C2-E3DE-6A7C-2FDF-1F2E4E2E25B6}"/>
              </a:ext>
            </a:extLst>
          </p:cNvPr>
          <p:cNvSpPr>
            <a:spLocks noGrp="1"/>
          </p:cNvSpPr>
          <p:nvPr>
            <p:ph type="title"/>
          </p:nvPr>
        </p:nvSpPr>
        <p:spPr>
          <a:xfrm>
            <a:off x="3665454" y="794639"/>
            <a:ext cx="4861092" cy="1377947"/>
          </a:xfrm>
        </p:spPr>
        <p:txBody>
          <a:bodyPr>
            <a:normAutofit fontScale="90000"/>
          </a:bodyPr>
          <a:lstStyle/>
          <a:p>
            <a:r>
              <a:rPr lang="en-US" sz="6600" b="1" dirty="0">
                <a:solidFill>
                  <a:schemeClr val="dk1"/>
                </a:solidFill>
                <a:latin typeface="Syne"/>
                <a:ea typeface="Syne"/>
              </a:rPr>
              <a:t>                           Introduction</a:t>
            </a:r>
            <a:endParaRPr lang="en-IN" sz="6600" dirty="0"/>
          </a:p>
        </p:txBody>
      </p:sp>
      <p:sp>
        <p:nvSpPr>
          <p:cNvPr id="4" name="Content Placeholder 3">
            <a:extLst>
              <a:ext uri="{FF2B5EF4-FFF2-40B4-BE49-F238E27FC236}">
                <a16:creationId xmlns:a16="http://schemas.microsoft.com/office/drawing/2014/main" id="{4E024C7B-630D-8837-ED75-3FE8B743DAED}"/>
              </a:ext>
            </a:extLst>
          </p:cNvPr>
          <p:cNvSpPr>
            <a:spLocks noGrp="1"/>
          </p:cNvSpPr>
          <p:nvPr>
            <p:ph idx="1"/>
          </p:nvPr>
        </p:nvSpPr>
        <p:spPr>
          <a:xfrm>
            <a:off x="1508431" y="2749983"/>
            <a:ext cx="8353758" cy="1559283"/>
          </a:xfrm>
        </p:spPr>
        <p:txBody>
          <a:bodyPr>
            <a:noAutofit/>
          </a:bodyPr>
          <a:lstStyle/>
          <a:p>
            <a:pPr marL="0" indent="0">
              <a:buNone/>
            </a:pPr>
            <a:r>
              <a:rPr lang="en-US" sz="2000" dirty="0">
                <a:solidFill>
                  <a:schemeClr val="dk1"/>
                </a:solidFill>
                <a:latin typeface="Cabin"/>
                <a:ea typeface="Cabin"/>
              </a:rPr>
              <a:t>Cosmic Explorer is a </a:t>
            </a:r>
            <a:r>
              <a:rPr lang="en-US" sz="2000" i="1" dirty="0">
                <a:solidFill>
                  <a:schemeClr val="dk1"/>
                </a:solidFill>
                <a:latin typeface="Cabin"/>
                <a:ea typeface="Cabin"/>
              </a:rPr>
              <a:t>web-based interactive platform</a:t>
            </a:r>
            <a:r>
              <a:rPr lang="en-US" sz="2000" dirty="0">
                <a:solidFill>
                  <a:schemeClr val="dk1"/>
                </a:solidFill>
                <a:latin typeface="Cabin"/>
                <a:ea typeface="Cabin"/>
              </a:rPr>
              <a:t> designed to provide real-time space data from NASA and SpaceX APIs. It enhances space education through engaging features such as 3D visualizations, live tracking, quizzes, and rich multimedia content, creating an immersive learning experience for astronomy enthusiasts and students.</a:t>
            </a:r>
            <a:endParaRPr lang="en-US" sz="2000" dirty="0">
              <a:solidFill>
                <a:srgbClr val="FFFFFF"/>
              </a:solidFill>
              <a:latin typeface="OpenSymbol"/>
            </a:endParaRPr>
          </a:p>
          <a:p>
            <a:endParaRPr lang="en-IN" sz="2000" dirty="0"/>
          </a:p>
        </p:txBody>
      </p:sp>
      <p:pic>
        <p:nvPicPr>
          <p:cNvPr id="8" name="Picture 7" descr="A video game with a control panel&#10;&#10;AI-generated content may be incorrect.">
            <a:extLst>
              <a:ext uri="{FF2B5EF4-FFF2-40B4-BE49-F238E27FC236}">
                <a16:creationId xmlns:a16="http://schemas.microsoft.com/office/drawing/2014/main" id="{0AAD0A97-AECF-5ACC-B930-D3A2DE4FC664}"/>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85561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6B4FF-B1F2-2028-0896-25337C334792}"/>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8DC3AD5-7E56-1AE3-DF51-AB8DDE261238}"/>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3FC5F175-7B75-ED52-29AB-E9D07F497AE2}"/>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59B99EC4-5E21-9BE5-1A8C-5F39ADEC4FA6}"/>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E4DAE8-21EF-6AF9-EB5F-23939A8BEE6F}"/>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70DB0B0D-68A0-BC05-4E7F-C035E75AEADD}"/>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A95749EF-17C2-B9D4-49CF-352522B4B2AD}"/>
              </a:ext>
            </a:extLst>
          </p:cNvPr>
          <p:cNvPicPr>
            <a:picLocks noChangeAspect="1"/>
          </p:cNvPicPr>
          <p:nvPr/>
        </p:nvPicPr>
        <p:blipFill>
          <a:blip r:embed="rId3"/>
          <a:stretch>
            <a:fillRect/>
          </a:stretch>
        </p:blipFill>
        <p:spPr>
          <a:xfrm>
            <a:off x="6242052" y="-91440"/>
            <a:ext cx="5803895" cy="557348"/>
          </a:xfrm>
          <a:prstGeom prst="rect">
            <a:avLst/>
          </a:prstGeom>
        </p:spPr>
      </p:pic>
      <p:sp>
        <p:nvSpPr>
          <p:cNvPr id="2" name="Title 1">
            <a:extLst>
              <a:ext uri="{FF2B5EF4-FFF2-40B4-BE49-F238E27FC236}">
                <a16:creationId xmlns:a16="http://schemas.microsoft.com/office/drawing/2014/main" id="{09559926-C676-ECCB-A691-3F88016CD260}"/>
              </a:ext>
            </a:extLst>
          </p:cNvPr>
          <p:cNvSpPr>
            <a:spLocks noGrp="1"/>
          </p:cNvSpPr>
          <p:nvPr>
            <p:ph type="title"/>
          </p:nvPr>
        </p:nvSpPr>
        <p:spPr>
          <a:xfrm>
            <a:off x="914400" y="1652126"/>
            <a:ext cx="3007513" cy="844826"/>
          </a:xfrm>
        </p:spPr>
        <p:txBody>
          <a:bodyPr>
            <a:normAutofit fontScale="90000"/>
          </a:bodyPr>
          <a:lstStyle/>
          <a:p>
            <a:r>
              <a:rPr lang="en-US" sz="6000" dirty="0"/>
              <a:t>PROJECT</a:t>
            </a:r>
            <a:r>
              <a:rPr lang="en-US" dirty="0"/>
              <a:t> OVERVIEW</a:t>
            </a:r>
            <a:endParaRPr lang="en-IN" dirty="0"/>
          </a:p>
        </p:txBody>
      </p:sp>
      <p:pic>
        <p:nvPicPr>
          <p:cNvPr id="17" name="Content Placeholder 16">
            <a:extLst>
              <a:ext uri="{FF2B5EF4-FFF2-40B4-BE49-F238E27FC236}">
                <a16:creationId xmlns:a16="http://schemas.microsoft.com/office/drawing/2014/main" id="{E0208A92-BF47-E098-B747-4292BAE3B88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040195" y="1381571"/>
            <a:ext cx="6172200" cy="3747407"/>
          </a:xfrm>
          <a:effectLst>
            <a:outerShdw blurRad="76200" dir="18900000" sy="23000" kx="-1200000" algn="bl" rotWithShape="0">
              <a:prstClr val="black">
                <a:alpha val="20000"/>
              </a:prstClr>
            </a:outerShdw>
          </a:effectLst>
          <a:scene3d>
            <a:camera prst="perspectiveHeroicExtremeLeftFacing"/>
            <a:lightRig rig="threePt" dir="t"/>
          </a:scene3d>
        </p:spPr>
      </p:pic>
      <p:sp>
        <p:nvSpPr>
          <p:cNvPr id="15" name="Rectangle 2">
            <a:extLst>
              <a:ext uri="{FF2B5EF4-FFF2-40B4-BE49-F238E27FC236}">
                <a16:creationId xmlns:a16="http://schemas.microsoft.com/office/drawing/2014/main" id="{E3202689-4DAC-F5E0-6B5A-CCAA67B171FE}"/>
              </a:ext>
            </a:extLst>
          </p:cNvPr>
          <p:cNvSpPr>
            <a:spLocks noGrp="1" noChangeArrowheads="1"/>
          </p:cNvSpPr>
          <p:nvPr>
            <p:ph type="body" sz="half" idx="2"/>
          </p:nvPr>
        </p:nvSpPr>
        <p:spPr bwMode="auto">
          <a:xfrm>
            <a:off x="836612" y="3519824"/>
            <a:ext cx="382995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Real-time NASA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Interactive 3D Earth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Near-Earth asteroid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ISS live 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SpaceX next launch details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Daily Astronomy Picture of the Day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Quiz and learning content</a:t>
            </a:r>
          </a:p>
        </p:txBody>
      </p:sp>
    </p:spTree>
    <p:extLst>
      <p:ext uri="{BB962C8B-B14F-4D97-AF65-F5344CB8AC3E}">
        <p14:creationId xmlns:p14="http://schemas.microsoft.com/office/powerpoint/2010/main" val="2212501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C9053-E4DC-01AE-5E10-66C802E79724}"/>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6BB5CC4-E2E6-3734-C0B2-AF87664921EF}"/>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832C0E3F-2B33-C62C-0C75-5F4E79AE1032}"/>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10DE1B49-9282-A3BB-F97F-7FED7702DF45}"/>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BC7AB84-C27C-CCB7-75A9-6AB0D98050B7}"/>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013C8953-1874-1452-D36F-55A1F1E6FD4E}"/>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2F77C036-1DA9-1CA8-8160-D9CD3FBE9DEE}"/>
              </a:ext>
            </a:extLst>
          </p:cNvPr>
          <p:cNvPicPr>
            <a:picLocks noChangeAspect="1"/>
          </p:cNvPicPr>
          <p:nvPr/>
        </p:nvPicPr>
        <p:blipFill>
          <a:blip r:embed="rId3"/>
          <a:stretch>
            <a:fillRect/>
          </a:stretch>
        </p:blipFill>
        <p:spPr>
          <a:xfrm>
            <a:off x="6242052" y="-91440"/>
            <a:ext cx="5803895" cy="557348"/>
          </a:xfrm>
          <a:prstGeom prst="rect">
            <a:avLst/>
          </a:prstGeom>
        </p:spPr>
      </p:pic>
      <p:sp>
        <p:nvSpPr>
          <p:cNvPr id="2" name="Title 1">
            <a:extLst>
              <a:ext uri="{FF2B5EF4-FFF2-40B4-BE49-F238E27FC236}">
                <a16:creationId xmlns:a16="http://schemas.microsoft.com/office/drawing/2014/main" id="{59F68F92-C167-73B5-3C65-13B535750BF8}"/>
              </a:ext>
            </a:extLst>
          </p:cNvPr>
          <p:cNvSpPr>
            <a:spLocks noGrp="1"/>
          </p:cNvSpPr>
          <p:nvPr>
            <p:ph type="title"/>
          </p:nvPr>
        </p:nvSpPr>
        <p:spPr>
          <a:xfrm>
            <a:off x="-2717671" y="1192608"/>
            <a:ext cx="10937331" cy="811877"/>
          </a:xfrm>
        </p:spPr>
        <p:txBody>
          <a:bodyPr>
            <a:noAutofit/>
          </a:bodyPr>
          <a:lstStyle/>
          <a:p>
            <a:r>
              <a:rPr lang="en-US" sz="6000" b="1" dirty="0">
                <a:solidFill>
                  <a:schemeClr val="dk1"/>
                </a:solidFill>
                <a:latin typeface="Syne"/>
                <a:ea typeface="Syne"/>
              </a:rPr>
              <a:t>                    Objectives and Goals</a:t>
            </a:r>
            <a:endParaRPr lang="en-IN" sz="6000" dirty="0"/>
          </a:p>
        </p:txBody>
      </p:sp>
      <p:sp>
        <p:nvSpPr>
          <p:cNvPr id="4" name="Content Placeholder 3">
            <a:extLst>
              <a:ext uri="{FF2B5EF4-FFF2-40B4-BE49-F238E27FC236}">
                <a16:creationId xmlns:a16="http://schemas.microsoft.com/office/drawing/2014/main" id="{62763041-DE80-BE0B-F46C-7547AC0BAAE5}"/>
              </a:ext>
            </a:extLst>
          </p:cNvPr>
          <p:cNvSpPr>
            <a:spLocks noGrp="1"/>
          </p:cNvSpPr>
          <p:nvPr>
            <p:ph idx="1"/>
          </p:nvPr>
        </p:nvSpPr>
        <p:spPr>
          <a:xfrm>
            <a:off x="726234" y="2469306"/>
            <a:ext cx="8322199" cy="2837470"/>
          </a:xfrm>
        </p:spPr>
        <p:txBody>
          <a:bodyPr>
            <a:noAutofit/>
          </a:bodyPr>
          <a:lstStyle/>
          <a:p>
            <a:pPr marL="0" indent="0">
              <a:buNone/>
            </a:pPr>
            <a:r>
              <a:rPr lang="en-US" sz="2400" dirty="0">
                <a:solidFill>
                  <a:schemeClr val="dk1"/>
                </a:solidFill>
                <a:latin typeface="Cabin"/>
                <a:ea typeface="Cabin"/>
              </a:rPr>
              <a:t>The platform aims to deliver an </a:t>
            </a:r>
            <a:r>
              <a:rPr lang="en-US" sz="2400" i="1" dirty="0">
                <a:solidFill>
                  <a:schemeClr val="dk1"/>
                </a:solidFill>
                <a:latin typeface="Cabin"/>
                <a:ea typeface="Cabin"/>
              </a:rPr>
              <a:t>interactive space learning experience</a:t>
            </a:r>
            <a:r>
              <a:rPr lang="en-US" sz="2400" dirty="0">
                <a:solidFill>
                  <a:schemeClr val="dk1"/>
                </a:solidFill>
                <a:latin typeface="Cabin"/>
                <a:ea typeface="Cabin"/>
              </a:rPr>
              <a:t> by integrating real-time data from NASA and SpaceX. It focuses on enhancing engagement through 3D visualizations, quizzes, and an accessible user interface that promotes understanding of space science concepts in an intuitive, dynamic way.</a:t>
            </a:r>
            <a:endParaRPr lang="en-US" sz="2400" dirty="0">
              <a:solidFill>
                <a:srgbClr val="FFFFFF"/>
              </a:solidFill>
              <a:latin typeface="OpenSymbol"/>
            </a:endParaRPr>
          </a:p>
          <a:p>
            <a:endParaRPr lang="en-IN" sz="2400" dirty="0"/>
          </a:p>
        </p:txBody>
      </p:sp>
    </p:spTree>
    <p:extLst>
      <p:ext uri="{BB962C8B-B14F-4D97-AF65-F5344CB8AC3E}">
        <p14:creationId xmlns:p14="http://schemas.microsoft.com/office/powerpoint/2010/main" val="285493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563E-87D5-DBC3-7CE0-0EE6C116A494}"/>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B7B3E6ED-CF78-A38C-B4B7-4B8139AC3B73}"/>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636F3C0F-9D26-BB22-6544-1BC56CF86223}"/>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48D10004-F5DC-E91E-F650-971FC97DF716}"/>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1569B6-C6A5-0B03-4A9A-EBBC9AAD9414}"/>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9296AB91-72E0-F319-0A12-AB78BD7EB8F2}"/>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C06EA5F3-73EC-C1BE-E801-21C12BD0EBBC}"/>
              </a:ext>
            </a:extLst>
          </p:cNvPr>
          <p:cNvPicPr>
            <a:picLocks noChangeAspect="1"/>
          </p:cNvPicPr>
          <p:nvPr/>
        </p:nvPicPr>
        <p:blipFill>
          <a:blip r:embed="rId3"/>
          <a:stretch>
            <a:fillRect/>
          </a:stretch>
        </p:blipFill>
        <p:spPr>
          <a:xfrm>
            <a:off x="6242052" y="-91440"/>
            <a:ext cx="5803895" cy="557348"/>
          </a:xfrm>
          <a:prstGeom prst="rect">
            <a:avLst/>
          </a:prstGeom>
        </p:spPr>
      </p:pic>
      <p:sp>
        <p:nvSpPr>
          <p:cNvPr id="12" name="TextBox 11">
            <a:extLst>
              <a:ext uri="{FF2B5EF4-FFF2-40B4-BE49-F238E27FC236}">
                <a16:creationId xmlns:a16="http://schemas.microsoft.com/office/drawing/2014/main" id="{311767D5-3D87-F35E-D7E9-420EFFE302E9}"/>
              </a:ext>
            </a:extLst>
          </p:cNvPr>
          <p:cNvSpPr txBox="1"/>
          <p:nvPr/>
        </p:nvSpPr>
        <p:spPr>
          <a:xfrm>
            <a:off x="7666944" y="1609346"/>
            <a:ext cx="3708153" cy="3139321"/>
          </a:xfrm>
          <a:prstGeom prst="rect">
            <a:avLst/>
          </a:prstGeom>
          <a:noFill/>
        </p:spPr>
        <p:txBody>
          <a:bodyPr wrap="square">
            <a:spAutoFit/>
          </a:bodyPr>
          <a:lstStyle/>
          <a:p>
            <a:r>
              <a:rPr lang="en-US" sz="6600" b="1" u="none" strike="noStrike" dirty="0">
                <a:solidFill>
                  <a:schemeClr val="dk1"/>
                </a:solidFill>
                <a:effectLst/>
                <a:uFillTx/>
                <a:latin typeface="Syne"/>
                <a:ea typeface="Syne"/>
              </a:rPr>
              <a:t>Key Features Summary</a:t>
            </a:r>
            <a:endParaRPr lang="en-IN" sz="6600" dirty="0"/>
          </a:p>
        </p:txBody>
      </p:sp>
      <p:sp>
        <p:nvSpPr>
          <p:cNvPr id="15" name="TextBox 14">
            <a:extLst>
              <a:ext uri="{FF2B5EF4-FFF2-40B4-BE49-F238E27FC236}">
                <a16:creationId xmlns:a16="http://schemas.microsoft.com/office/drawing/2014/main" id="{761CE652-C4E2-8E25-D6D8-B912262B1CDE}"/>
              </a:ext>
            </a:extLst>
          </p:cNvPr>
          <p:cNvSpPr txBox="1"/>
          <p:nvPr/>
        </p:nvSpPr>
        <p:spPr>
          <a:xfrm>
            <a:off x="673670" y="1195471"/>
            <a:ext cx="6102626" cy="4467057"/>
          </a:xfrm>
          <a:prstGeom prst="rect">
            <a:avLst/>
          </a:prstGeom>
          <a:noFill/>
        </p:spPr>
        <p:txBody>
          <a:bodyPr wrap="square">
            <a:spAutoFit/>
          </a:bodyPr>
          <a:lstStyle/>
          <a:p>
            <a:pPr indent="0" algn="ctr">
              <a:lnSpc>
                <a:spcPct val="150000"/>
              </a:lnSpc>
              <a:buNone/>
              <a:tabLst>
                <a:tab pos="0" algn="l"/>
              </a:tabLst>
            </a:pPr>
            <a:r>
              <a:rPr lang="en-US" sz="2400" b="0" u="none" strike="noStrike" dirty="0">
                <a:solidFill>
                  <a:schemeClr val="dk1"/>
                </a:solidFill>
                <a:effectLst/>
                <a:uFillTx/>
                <a:latin typeface="Cabin"/>
                <a:ea typeface="Cabin"/>
              </a:rPr>
              <a:t>Key features include NASA APOD for daily cosmic images, real-time asteroid tracking, live ISS position updates, and upcoming SpaceX launch details. The 3D Planet Explorer and interactive quizzes provide immersive learning, while a neon-themed UI enhances user experience across all devices with responsive design and smooth navigation.</a:t>
            </a:r>
            <a:endParaRPr lang="en-US" sz="2400" b="0" u="none" strike="noStrike" dirty="0">
              <a:solidFill>
                <a:srgbClr val="FFFFFF"/>
              </a:solidFill>
              <a:effectLst/>
              <a:uFillTx/>
              <a:latin typeface="OpenSymbol"/>
            </a:endParaRPr>
          </a:p>
        </p:txBody>
      </p:sp>
      <p:pic>
        <p:nvPicPr>
          <p:cNvPr id="4" name="Picture 3" descr="A satellite with blue panels&#10;&#10;AI-generated content may be incorrect.">
            <a:extLst>
              <a:ext uri="{FF2B5EF4-FFF2-40B4-BE49-F238E27FC236}">
                <a16:creationId xmlns:a16="http://schemas.microsoft.com/office/drawing/2014/main" id="{C9A68ED0-E526-92A8-D8AF-E4FF3E5CEE83}"/>
              </a:ext>
            </a:extLst>
          </p:cNvPr>
          <p:cNvPicPr>
            <a:picLocks noChangeAspect="1"/>
          </p:cNvPicPr>
          <p:nvPr/>
        </p:nvPicPr>
        <p:blipFill>
          <a:blip r:embed="rId4">
            <a:alphaModFix amt="35000"/>
            <a:extLst>
              <a:ext uri="{28A0092B-C50C-407E-A947-70E740481C1C}">
                <a14:useLocalDpi xmlns:a14="http://schemas.microsoft.com/office/drawing/2010/main" val="0"/>
              </a:ext>
            </a:extLst>
          </a:blip>
          <a:stretch>
            <a:fillRect/>
          </a:stretch>
        </p:blipFill>
        <p:spPr>
          <a:xfrm>
            <a:off x="1666906" y="732204"/>
            <a:ext cx="5716302" cy="5716302"/>
          </a:xfrm>
          <a:prstGeom prst="rect">
            <a:avLst/>
          </a:prstGeom>
        </p:spPr>
      </p:pic>
    </p:spTree>
    <p:extLst>
      <p:ext uri="{BB962C8B-B14F-4D97-AF65-F5344CB8AC3E}">
        <p14:creationId xmlns:p14="http://schemas.microsoft.com/office/powerpoint/2010/main" val="459212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55CAD-8D77-130A-4FE3-549EF44376D3}"/>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E3115F2-783A-BCAE-32B0-61606AF26757}"/>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06253830-DC0C-5F6F-AE50-6C2D52DDE22D}"/>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109577E8-CDAF-F0E2-37BE-7066B8A4A9FD}"/>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A81A0E6-74E2-22C8-504E-C17F415E44B6}"/>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BB237973-55B2-FFE2-3960-053504F92BB3}"/>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619061C7-5852-8F26-7F1E-5BA5A7C0E915}"/>
              </a:ext>
            </a:extLst>
          </p:cNvPr>
          <p:cNvPicPr>
            <a:picLocks noChangeAspect="1"/>
          </p:cNvPicPr>
          <p:nvPr/>
        </p:nvPicPr>
        <p:blipFill>
          <a:blip r:embed="rId3"/>
          <a:stretch>
            <a:fillRect/>
          </a:stretch>
        </p:blipFill>
        <p:spPr>
          <a:xfrm>
            <a:off x="6242052" y="-91440"/>
            <a:ext cx="5803895" cy="557348"/>
          </a:xfrm>
          <a:prstGeom prst="rect">
            <a:avLst/>
          </a:prstGeom>
        </p:spPr>
      </p:pic>
      <p:sp>
        <p:nvSpPr>
          <p:cNvPr id="4" name="TextBox 3">
            <a:extLst>
              <a:ext uri="{FF2B5EF4-FFF2-40B4-BE49-F238E27FC236}">
                <a16:creationId xmlns:a16="http://schemas.microsoft.com/office/drawing/2014/main" id="{00790DC1-F04E-2A70-B528-E645A502E93D}"/>
              </a:ext>
            </a:extLst>
          </p:cNvPr>
          <p:cNvSpPr txBox="1"/>
          <p:nvPr/>
        </p:nvSpPr>
        <p:spPr>
          <a:xfrm>
            <a:off x="1083365" y="1165336"/>
            <a:ext cx="4782178" cy="769441"/>
          </a:xfrm>
          <a:prstGeom prst="rect">
            <a:avLst/>
          </a:prstGeom>
          <a:noFill/>
        </p:spPr>
        <p:txBody>
          <a:bodyPr wrap="square">
            <a:spAutoFit/>
          </a:bodyPr>
          <a:lstStyle/>
          <a:p>
            <a:r>
              <a:rPr lang="en-US" sz="4400" b="1" u="none" strike="noStrike" dirty="0">
                <a:solidFill>
                  <a:schemeClr val="dk1"/>
                </a:solidFill>
                <a:effectLst/>
                <a:uFillTx/>
                <a:latin typeface="Syne"/>
                <a:ea typeface="Syne"/>
              </a:rPr>
              <a:t>Technology Stack</a:t>
            </a:r>
            <a:endParaRPr lang="en-IN" sz="4400" dirty="0"/>
          </a:p>
        </p:txBody>
      </p:sp>
      <p:sp>
        <p:nvSpPr>
          <p:cNvPr id="8" name="TextBox 7">
            <a:extLst>
              <a:ext uri="{FF2B5EF4-FFF2-40B4-BE49-F238E27FC236}">
                <a16:creationId xmlns:a16="http://schemas.microsoft.com/office/drawing/2014/main" id="{5F284844-0FE6-503E-59AB-46843D14A207}"/>
              </a:ext>
            </a:extLst>
          </p:cNvPr>
          <p:cNvSpPr txBox="1"/>
          <p:nvPr/>
        </p:nvSpPr>
        <p:spPr>
          <a:xfrm>
            <a:off x="1083365" y="2253569"/>
            <a:ext cx="6102626" cy="3737946"/>
          </a:xfrm>
          <a:prstGeom prst="rect">
            <a:avLst/>
          </a:prstGeom>
          <a:noFill/>
        </p:spPr>
        <p:txBody>
          <a:bodyPr wrap="square">
            <a:spAutoFit/>
          </a:bodyPr>
          <a:lstStyle/>
          <a:p>
            <a:pPr indent="0">
              <a:lnSpc>
                <a:spcPct val="150000"/>
              </a:lnSpc>
              <a:buNone/>
              <a:tabLst>
                <a:tab pos="0" algn="l"/>
              </a:tabLst>
            </a:pPr>
            <a:r>
              <a:rPr lang="en-US" sz="2000" b="0" u="none" strike="noStrike" dirty="0">
                <a:solidFill>
                  <a:schemeClr val="dk1"/>
                </a:solidFill>
                <a:effectLst/>
                <a:uFillTx/>
                <a:latin typeface="Cabin"/>
                <a:ea typeface="Cabin"/>
              </a:rPr>
              <a:t>The platform leverages </a:t>
            </a:r>
            <a:r>
              <a:rPr lang="en-US" sz="2000" b="1" u="none" strike="noStrike" dirty="0">
                <a:solidFill>
                  <a:schemeClr val="dk1"/>
                </a:solidFill>
                <a:effectLst/>
                <a:uFillTx/>
                <a:latin typeface="Cabin"/>
                <a:ea typeface="Cabin"/>
              </a:rPr>
              <a:t>HTML5</a:t>
            </a:r>
            <a:r>
              <a:rPr lang="en-US" sz="2000" b="0" u="none" strike="noStrike" dirty="0">
                <a:solidFill>
                  <a:schemeClr val="dk1"/>
                </a:solidFill>
                <a:effectLst/>
                <a:uFillTx/>
                <a:latin typeface="Cabin"/>
                <a:ea typeface="Cabin"/>
              </a:rPr>
              <a:t> for structure and </a:t>
            </a:r>
            <a:r>
              <a:rPr lang="en-US" sz="2000" b="1" u="none" strike="noStrike" dirty="0">
                <a:solidFill>
                  <a:schemeClr val="dk1"/>
                </a:solidFill>
                <a:effectLst/>
                <a:uFillTx/>
                <a:latin typeface="Cabin"/>
                <a:ea typeface="Cabin"/>
              </a:rPr>
              <a:t>CSS3</a:t>
            </a:r>
            <a:r>
              <a:rPr lang="en-US" sz="2000" b="0" u="none" strike="noStrike" dirty="0">
                <a:solidFill>
                  <a:schemeClr val="dk1"/>
                </a:solidFill>
                <a:effectLst/>
                <a:uFillTx/>
                <a:latin typeface="Cabin"/>
                <a:ea typeface="Cabin"/>
              </a:rPr>
              <a:t> to deliver a neon-themed, responsive UI with smooth animations. JavaScript (ES6) powers dynamic content and API calls, while Three.js enables interactive 3D Earth visualization. Multiple APIs from NASA, SpaceX, and ISS provide real-time space data, supported by modern development tools like VS Code and Live Server for efficient testing and deployment.</a:t>
            </a:r>
            <a:endParaRPr lang="en-US" sz="2000" b="0" u="none" strike="noStrike" dirty="0">
              <a:solidFill>
                <a:srgbClr val="FFFFFF"/>
              </a:solidFill>
              <a:effectLst/>
              <a:uFillTx/>
              <a:latin typeface="OpenSymbol"/>
            </a:endParaRPr>
          </a:p>
        </p:txBody>
      </p:sp>
      <p:pic>
        <p:nvPicPr>
          <p:cNvPr id="6" name="Picture 5" descr="A group of colorful logos&#10;&#10;AI-generated content may be incorrect.">
            <a:extLst>
              <a:ext uri="{FF2B5EF4-FFF2-40B4-BE49-F238E27FC236}">
                <a16:creationId xmlns:a16="http://schemas.microsoft.com/office/drawing/2014/main" id="{5B7320C2-FC4F-1E96-6185-38BA000247C7}"/>
              </a:ext>
            </a:extLst>
          </p:cNvPr>
          <p:cNvPicPr>
            <a:picLocks noChangeAspect="1"/>
          </p:cNvPicPr>
          <p:nvPr/>
        </p:nvPicPr>
        <p:blipFill>
          <a:blip r:embed="rId4">
            <a:alphaModFix amt="35000"/>
            <a:extLst>
              <a:ext uri="{28A0092B-C50C-407E-A947-70E740481C1C}">
                <a14:useLocalDpi xmlns:a14="http://schemas.microsoft.com/office/drawing/2010/main" val="0"/>
              </a:ext>
            </a:extLst>
          </a:blip>
          <a:stretch>
            <a:fillRect/>
          </a:stretch>
        </p:blipFill>
        <p:spPr>
          <a:xfrm>
            <a:off x="5128229" y="2253569"/>
            <a:ext cx="5353027" cy="3140443"/>
          </a:xfrm>
          <a:prstGeom prst="rect">
            <a:avLst/>
          </a:prstGeom>
        </p:spPr>
      </p:pic>
    </p:spTree>
    <p:extLst>
      <p:ext uri="{BB962C8B-B14F-4D97-AF65-F5344CB8AC3E}">
        <p14:creationId xmlns:p14="http://schemas.microsoft.com/office/powerpoint/2010/main" val="2767165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9F65E-1D89-E600-AE5F-81D3B4DE36A4}"/>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5B9A83FE-9026-F19B-F345-87948F3B37C7}"/>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49590CBC-2B15-CA10-8973-BEE5BAA4B442}"/>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97C99CE7-AD8A-5827-DA6D-1E60B3EFB67C}"/>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D8D01CD-2E13-7C91-2268-2E7511B279C1}"/>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E04E5169-10E9-2832-DF49-B05EDFD837A5}"/>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CB26365C-49C9-24CE-06F5-B9F551596010}"/>
              </a:ext>
            </a:extLst>
          </p:cNvPr>
          <p:cNvPicPr>
            <a:picLocks noChangeAspect="1"/>
          </p:cNvPicPr>
          <p:nvPr/>
        </p:nvPicPr>
        <p:blipFill>
          <a:blip r:embed="rId3"/>
          <a:stretch>
            <a:fillRect/>
          </a:stretch>
        </p:blipFill>
        <p:spPr>
          <a:xfrm>
            <a:off x="6242052" y="-91440"/>
            <a:ext cx="5803895" cy="557348"/>
          </a:xfrm>
          <a:prstGeom prst="rect">
            <a:avLst/>
          </a:prstGeom>
        </p:spPr>
      </p:pic>
      <p:sp>
        <p:nvSpPr>
          <p:cNvPr id="4" name="TextBox 3">
            <a:extLst>
              <a:ext uri="{FF2B5EF4-FFF2-40B4-BE49-F238E27FC236}">
                <a16:creationId xmlns:a16="http://schemas.microsoft.com/office/drawing/2014/main" id="{CE090A63-85CA-F44B-6051-75CCA48EF806}"/>
              </a:ext>
            </a:extLst>
          </p:cNvPr>
          <p:cNvSpPr txBox="1"/>
          <p:nvPr/>
        </p:nvSpPr>
        <p:spPr>
          <a:xfrm>
            <a:off x="2277555" y="2926456"/>
            <a:ext cx="6770879" cy="2554545"/>
          </a:xfrm>
          <a:prstGeom prst="rect">
            <a:avLst/>
          </a:prstGeom>
          <a:noFill/>
        </p:spPr>
        <p:txBody>
          <a:bodyPr wrap="square">
            <a:spAutoFit/>
          </a:bodyPr>
          <a:lstStyle/>
          <a:p>
            <a:r>
              <a:rPr lang="en-US" sz="2800" dirty="0"/>
              <a:t>Cosmic</a:t>
            </a:r>
            <a:r>
              <a:rPr lang="en-US" sz="3200" dirty="0"/>
              <a:t> Explorer integrates real-time space data, 3D visualization, dynamic UI components, and educational tools using only HTML, CSS, and JavaScript.</a:t>
            </a:r>
            <a:endParaRPr lang="en-IN" sz="3200" dirty="0"/>
          </a:p>
        </p:txBody>
      </p:sp>
      <p:sp>
        <p:nvSpPr>
          <p:cNvPr id="8" name="TextBox 7">
            <a:extLst>
              <a:ext uri="{FF2B5EF4-FFF2-40B4-BE49-F238E27FC236}">
                <a16:creationId xmlns:a16="http://schemas.microsoft.com/office/drawing/2014/main" id="{435FDD89-25D0-70A5-0931-9EA060693F87}"/>
              </a:ext>
            </a:extLst>
          </p:cNvPr>
          <p:cNvSpPr txBox="1"/>
          <p:nvPr/>
        </p:nvSpPr>
        <p:spPr>
          <a:xfrm>
            <a:off x="2100822" y="1757319"/>
            <a:ext cx="8474266" cy="1015663"/>
          </a:xfrm>
          <a:prstGeom prst="rect">
            <a:avLst/>
          </a:prstGeom>
          <a:noFill/>
        </p:spPr>
        <p:txBody>
          <a:bodyPr wrap="square">
            <a:spAutoFit/>
          </a:bodyPr>
          <a:lstStyle/>
          <a:p>
            <a:r>
              <a:rPr lang="en-US" sz="6000" b="1" u="none" strike="noStrike" dirty="0">
                <a:solidFill>
                  <a:schemeClr val="dk1"/>
                </a:solidFill>
                <a:effectLst/>
                <a:uFillTx/>
                <a:latin typeface="Syne"/>
                <a:ea typeface="Syne"/>
              </a:rPr>
              <a:t>Implementation Details</a:t>
            </a:r>
            <a:endParaRPr lang="en-IN" sz="6000" dirty="0"/>
          </a:p>
        </p:txBody>
      </p:sp>
    </p:spTree>
    <p:extLst>
      <p:ext uri="{BB962C8B-B14F-4D97-AF65-F5344CB8AC3E}">
        <p14:creationId xmlns:p14="http://schemas.microsoft.com/office/powerpoint/2010/main" val="1645055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68E4-AC69-21E0-353E-85B3AC700CBC}"/>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574E95D-387F-A377-56E7-85EDA4E2F612}"/>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C08A9AEB-4C79-0CA0-FF20-EAD644581ECC}"/>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1FCF46AE-6A12-5F9F-2BB8-A157C4908317}"/>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C84EF9-1C01-924F-820C-868DA977C032}"/>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76EE4323-5C99-D241-DE63-E6E334D53D0D}"/>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ED2EE591-A212-D755-53E8-A4097FF3D59E}"/>
              </a:ext>
            </a:extLst>
          </p:cNvPr>
          <p:cNvPicPr>
            <a:picLocks noChangeAspect="1"/>
          </p:cNvPicPr>
          <p:nvPr/>
        </p:nvPicPr>
        <p:blipFill>
          <a:blip r:embed="rId3"/>
          <a:stretch>
            <a:fillRect/>
          </a:stretch>
        </p:blipFill>
        <p:spPr>
          <a:xfrm>
            <a:off x="6242052" y="-91440"/>
            <a:ext cx="5803895" cy="557348"/>
          </a:xfrm>
          <a:prstGeom prst="rect">
            <a:avLst/>
          </a:prstGeom>
        </p:spPr>
      </p:pic>
      <p:sp>
        <p:nvSpPr>
          <p:cNvPr id="4" name="TextBox 3">
            <a:extLst>
              <a:ext uri="{FF2B5EF4-FFF2-40B4-BE49-F238E27FC236}">
                <a16:creationId xmlns:a16="http://schemas.microsoft.com/office/drawing/2014/main" id="{58FE6CFA-8F40-2B02-DA27-BE706B24B73A}"/>
              </a:ext>
            </a:extLst>
          </p:cNvPr>
          <p:cNvSpPr txBox="1"/>
          <p:nvPr/>
        </p:nvSpPr>
        <p:spPr>
          <a:xfrm>
            <a:off x="1898974" y="901790"/>
            <a:ext cx="7325996" cy="1015663"/>
          </a:xfrm>
          <a:prstGeom prst="rect">
            <a:avLst/>
          </a:prstGeom>
          <a:noFill/>
        </p:spPr>
        <p:txBody>
          <a:bodyPr wrap="square">
            <a:spAutoFit/>
          </a:bodyPr>
          <a:lstStyle/>
          <a:p>
            <a:r>
              <a:rPr lang="en-US" sz="6000" b="1" u="none" strike="noStrike" dirty="0">
                <a:solidFill>
                  <a:schemeClr val="dk1"/>
                </a:solidFill>
                <a:effectLst/>
                <a:uFillTx/>
                <a:latin typeface="Syne"/>
                <a:ea typeface="Syne"/>
              </a:rPr>
              <a:t>System Architecture</a:t>
            </a:r>
            <a:endParaRPr lang="en-IN" sz="6000" dirty="0"/>
          </a:p>
        </p:txBody>
      </p:sp>
      <p:sp>
        <p:nvSpPr>
          <p:cNvPr id="8" name="TextBox 7">
            <a:extLst>
              <a:ext uri="{FF2B5EF4-FFF2-40B4-BE49-F238E27FC236}">
                <a16:creationId xmlns:a16="http://schemas.microsoft.com/office/drawing/2014/main" id="{4E4A7C43-A1C0-C2CD-598E-5AACBC584A21}"/>
              </a:ext>
            </a:extLst>
          </p:cNvPr>
          <p:cNvSpPr txBox="1"/>
          <p:nvPr/>
        </p:nvSpPr>
        <p:spPr>
          <a:xfrm>
            <a:off x="1332121" y="2043151"/>
            <a:ext cx="8110331" cy="3913059"/>
          </a:xfrm>
          <a:prstGeom prst="rect">
            <a:avLst/>
          </a:prstGeom>
          <a:noFill/>
        </p:spPr>
        <p:txBody>
          <a:bodyPr wrap="square">
            <a:spAutoFit/>
          </a:bodyPr>
          <a:lstStyle/>
          <a:p>
            <a:pPr indent="0" algn="ctr">
              <a:lnSpc>
                <a:spcPct val="150000"/>
              </a:lnSpc>
              <a:buNone/>
              <a:tabLst>
                <a:tab pos="0" algn="l"/>
              </a:tabLst>
            </a:pPr>
            <a:r>
              <a:rPr lang="en-US" sz="2400" b="0" u="none" strike="noStrike" dirty="0">
                <a:solidFill>
                  <a:schemeClr val="dk1"/>
                </a:solidFill>
                <a:effectLst/>
                <a:uFillTx/>
                <a:latin typeface="Cabin"/>
                <a:ea typeface="Cabin"/>
              </a:rPr>
              <a:t>The architecture is a Single Page Application (SPA) enabling smooth navigation without reloads. It integrates REST APIs from NASA, SpaceX, and ISS to fetch JSON data dynamically. The visual layer incorporates WebGL via Three.js for 3D rendering, while the content layer manages articles, quizzes, imagery, and live event data, ensuring a robust and interactive user experience.</a:t>
            </a:r>
            <a:endParaRPr lang="en-US" sz="2400" b="0" u="none" strike="noStrike" dirty="0">
              <a:solidFill>
                <a:srgbClr val="FFFFFF"/>
              </a:solidFill>
              <a:effectLst/>
              <a:uFillTx/>
              <a:latin typeface="OpenSymbol"/>
            </a:endParaRPr>
          </a:p>
        </p:txBody>
      </p:sp>
    </p:spTree>
    <p:extLst>
      <p:ext uri="{BB962C8B-B14F-4D97-AF65-F5344CB8AC3E}">
        <p14:creationId xmlns:p14="http://schemas.microsoft.com/office/powerpoint/2010/main" val="67158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DC7FD-49C0-BEC4-CC4B-04292749A5D3}"/>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8D37396-4A1A-30F3-1C14-1D6B3C3CDB3B}"/>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F92EDF4C-98D5-FDA6-1E3C-C0648E1101C1}"/>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202A40A8-7235-BCC3-4433-2B5574F0F7BD}"/>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CC809CE-03B0-0500-9747-CBBC8D65E682}"/>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3B4AF571-7DAE-EE3D-CBF7-786A5E85EDDC}"/>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91268DA8-A2C8-9849-FBF4-6C29B1960E09}"/>
              </a:ext>
            </a:extLst>
          </p:cNvPr>
          <p:cNvPicPr>
            <a:picLocks noChangeAspect="1"/>
          </p:cNvPicPr>
          <p:nvPr/>
        </p:nvPicPr>
        <p:blipFill>
          <a:blip r:embed="rId3"/>
          <a:stretch>
            <a:fillRect/>
          </a:stretch>
        </p:blipFill>
        <p:spPr>
          <a:xfrm>
            <a:off x="6242052" y="-91440"/>
            <a:ext cx="5803895" cy="557348"/>
          </a:xfrm>
          <a:prstGeom prst="rect">
            <a:avLst/>
          </a:prstGeom>
        </p:spPr>
      </p:pic>
      <p:sp>
        <p:nvSpPr>
          <p:cNvPr id="4" name="TextBox 3">
            <a:extLst>
              <a:ext uri="{FF2B5EF4-FFF2-40B4-BE49-F238E27FC236}">
                <a16:creationId xmlns:a16="http://schemas.microsoft.com/office/drawing/2014/main" id="{41296BBA-58E3-8124-1B5C-2AC66BE4F925}"/>
              </a:ext>
            </a:extLst>
          </p:cNvPr>
          <p:cNvSpPr txBox="1"/>
          <p:nvPr/>
        </p:nvSpPr>
        <p:spPr>
          <a:xfrm>
            <a:off x="914400" y="1152147"/>
            <a:ext cx="6482026" cy="1569660"/>
          </a:xfrm>
          <a:prstGeom prst="rect">
            <a:avLst/>
          </a:prstGeom>
          <a:noFill/>
        </p:spPr>
        <p:txBody>
          <a:bodyPr wrap="square">
            <a:spAutoFit/>
          </a:bodyPr>
          <a:lstStyle/>
          <a:p>
            <a:r>
              <a:rPr lang="en-US" sz="4800" b="1" u="none" strike="noStrike" dirty="0">
                <a:solidFill>
                  <a:schemeClr val="dk1"/>
                </a:solidFill>
                <a:effectLst/>
                <a:uFillTx/>
                <a:latin typeface="Syne"/>
                <a:ea typeface="Syne"/>
              </a:rPr>
              <a:t>Advantages and Limitations</a:t>
            </a:r>
            <a:endParaRPr lang="en-IN" sz="4800" dirty="0"/>
          </a:p>
        </p:txBody>
      </p:sp>
      <p:sp>
        <p:nvSpPr>
          <p:cNvPr id="8" name="TextBox 7">
            <a:extLst>
              <a:ext uri="{FF2B5EF4-FFF2-40B4-BE49-F238E27FC236}">
                <a16:creationId xmlns:a16="http://schemas.microsoft.com/office/drawing/2014/main" id="{11B4AD39-2E08-8452-DF50-D03079AF2413}"/>
              </a:ext>
            </a:extLst>
          </p:cNvPr>
          <p:cNvSpPr txBox="1"/>
          <p:nvPr/>
        </p:nvSpPr>
        <p:spPr>
          <a:xfrm>
            <a:off x="914400" y="2721807"/>
            <a:ext cx="5725796" cy="3276282"/>
          </a:xfrm>
          <a:prstGeom prst="rect">
            <a:avLst/>
          </a:prstGeom>
          <a:noFill/>
        </p:spPr>
        <p:txBody>
          <a:bodyPr wrap="square">
            <a:spAutoFit/>
          </a:bodyPr>
          <a:lstStyle/>
          <a:p>
            <a:pPr indent="0">
              <a:lnSpc>
                <a:spcPct val="150000"/>
              </a:lnSpc>
              <a:buNone/>
              <a:tabLst>
                <a:tab pos="0" algn="l"/>
              </a:tabLst>
            </a:pPr>
            <a:r>
              <a:rPr lang="en-US" sz="2000" b="0" u="none" strike="noStrike" dirty="0">
                <a:solidFill>
                  <a:schemeClr val="dk1"/>
                </a:solidFill>
                <a:effectLst/>
                <a:uFillTx/>
                <a:latin typeface="Cabin"/>
                <a:ea typeface="Cabin"/>
              </a:rPr>
              <a:t>Advantages include </a:t>
            </a:r>
            <a:r>
              <a:rPr lang="en-US" sz="2000" b="1" u="none" strike="noStrike" dirty="0">
                <a:solidFill>
                  <a:schemeClr val="dk1"/>
                </a:solidFill>
                <a:effectLst/>
                <a:uFillTx/>
                <a:latin typeface="Cabin"/>
                <a:ea typeface="Cabin"/>
              </a:rPr>
              <a:t>real-time data accuracy</a:t>
            </a:r>
            <a:r>
              <a:rPr lang="en-US" sz="2000" b="0" u="none" strike="noStrike" dirty="0">
                <a:solidFill>
                  <a:schemeClr val="dk1"/>
                </a:solidFill>
                <a:effectLst/>
                <a:uFillTx/>
                <a:latin typeface="Cabin"/>
                <a:ea typeface="Cabin"/>
              </a:rPr>
              <a:t>, high interactivity, and cross-device compatibility with a modern, eye-catching UI. Limitations consist of dependency on a stable internet connection, API rate limits that may restrict data access, and 3D rendering performance relying heavily on device GPU capabilities, which may vary among users.</a:t>
            </a:r>
            <a:endParaRPr lang="en-US" sz="2000" b="0" u="none" strike="noStrike" dirty="0">
              <a:solidFill>
                <a:srgbClr val="FFFFFF"/>
              </a:solidFill>
              <a:effectLst/>
              <a:uFillTx/>
              <a:latin typeface="OpenSymbol"/>
            </a:endParaRPr>
          </a:p>
        </p:txBody>
      </p:sp>
      <p:pic>
        <p:nvPicPr>
          <p:cNvPr id="6" name="Picture 5" descr="A blue scale with green and red signs&#10;&#10;AI-generated content may be incorrect.">
            <a:extLst>
              <a:ext uri="{FF2B5EF4-FFF2-40B4-BE49-F238E27FC236}">
                <a16:creationId xmlns:a16="http://schemas.microsoft.com/office/drawing/2014/main" id="{626D8F12-100E-3348-F610-0013F464D7AE}"/>
              </a:ext>
            </a:extLst>
          </p:cNvPr>
          <p:cNvPicPr>
            <a:picLocks noChangeAspect="1"/>
          </p:cNvPicPr>
          <p:nvPr/>
        </p:nvPicPr>
        <p:blipFill>
          <a:blip r:embed="rId4">
            <a:alphaModFix amt="35000"/>
            <a:extLst>
              <a:ext uri="{28A0092B-C50C-407E-A947-70E740481C1C}">
                <a14:useLocalDpi xmlns:a14="http://schemas.microsoft.com/office/drawing/2010/main" val="0"/>
              </a:ext>
            </a:extLst>
          </a:blip>
          <a:stretch>
            <a:fillRect/>
          </a:stretch>
        </p:blipFill>
        <p:spPr>
          <a:xfrm>
            <a:off x="3983776" y="1986117"/>
            <a:ext cx="6605566" cy="4975122"/>
          </a:xfrm>
          <a:prstGeom prst="rect">
            <a:avLst/>
          </a:prstGeom>
        </p:spPr>
      </p:pic>
    </p:spTree>
    <p:extLst>
      <p:ext uri="{BB962C8B-B14F-4D97-AF65-F5344CB8AC3E}">
        <p14:creationId xmlns:p14="http://schemas.microsoft.com/office/powerpoint/2010/main" val="1276406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36B7A-E937-4AE8-8F5D-5559964E7D5D}"/>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FD629E-82FE-BF87-41B0-BE1D38F8BE02}"/>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69505313-480D-9353-B50F-0DBBCDC289A2}"/>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97A48529-AC3A-C1FA-BEE2-8B8891A6D334}"/>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AE9A441-A088-1B12-26C2-162D5ADAAF27}"/>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20FD4CFD-325E-D946-1485-E9BDC96662D8}"/>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3C4BF167-49E2-999C-01C7-2DC73643D5A1}"/>
              </a:ext>
            </a:extLst>
          </p:cNvPr>
          <p:cNvPicPr>
            <a:picLocks noChangeAspect="1"/>
          </p:cNvPicPr>
          <p:nvPr/>
        </p:nvPicPr>
        <p:blipFill>
          <a:blip r:embed="rId3"/>
          <a:stretch>
            <a:fillRect/>
          </a:stretch>
        </p:blipFill>
        <p:spPr>
          <a:xfrm>
            <a:off x="6242052" y="-91440"/>
            <a:ext cx="5803895" cy="557348"/>
          </a:xfrm>
          <a:prstGeom prst="rect">
            <a:avLst/>
          </a:prstGeom>
        </p:spPr>
      </p:pic>
      <p:sp>
        <p:nvSpPr>
          <p:cNvPr id="4" name="TextBox 3">
            <a:extLst>
              <a:ext uri="{FF2B5EF4-FFF2-40B4-BE49-F238E27FC236}">
                <a16:creationId xmlns:a16="http://schemas.microsoft.com/office/drawing/2014/main" id="{900BC052-63EE-72EA-3330-6D07E9BB401F}"/>
              </a:ext>
            </a:extLst>
          </p:cNvPr>
          <p:cNvSpPr txBox="1"/>
          <p:nvPr/>
        </p:nvSpPr>
        <p:spPr>
          <a:xfrm>
            <a:off x="2690156" y="758964"/>
            <a:ext cx="4662309" cy="1107996"/>
          </a:xfrm>
          <a:prstGeom prst="rect">
            <a:avLst/>
          </a:prstGeom>
          <a:noFill/>
        </p:spPr>
        <p:txBody>
          <a:bodyPr wrap="square">
            <a:spAutoFit/>
          </a:bodyPr>
          <a:lstStyle/>
          <a:p>
            <a:r>
              <a:rPr lang="en-US" sz="6600" b="1" u="none" strike="noStrike" dirty="0">
                <a:solidFill>
                  <a:schemeClr val="dk1"/>
                </a:solidFill>
                <a:effectLst/>
                <a:uFillTx/>
                <a:latin typeface="Syne"/>
                <a:ea typeface="Syne"/>
              </a:rPr>
              <a:t>Conclusions</a:t>
            </a:r>
            <a:endParaRPr lang="en-IN" sz="6600" dirty="0"/>
          </a:p>
        </p:txBody>
      </p:sp>
      <p:sp>
        <p:nvSpPr>
          <p:cNvPr id="8" name="TextBox 7">
            <a:extLst>
              <a:ext uri="{FF2B5EF4-FFF2-40B4-BE49-F238E27FC236}">
                <a16:creationId xmlns:a16="http://schemas.microsoft.com/office/drawing/2014/main" id="{6439FFD3-2BBA-516A-578A-2F2E95D8DCB7}"/>
              </a:ext>
            </a:extLst>
          </p:cNvPr>
          <p:cNvSpPr txBox="1"/>
          <p:nvPr/>
        </p:nvSpPr>
        <p:spPr>
          <a:xfrm>
            <a:off x="914400" y="2160016"/>
            <a:ext cx="8650067" cy="3359061"/>
          </a:xfrm>
          <a:prstGeom prst="rect">
            <a:avLst/>
          </a:prstGeom>
          <a:noFill/>
        </p:spPr>
        <p:txBody>
          <a:bodyPr wrap="square">
            <a:spAutoFit/>
          </a:bodyPr>
          <a:lstStyle/>
          <a:p>
            <a:pPr indent="0" algn="ctr">
              <a:lnSpc>
                <a:spcPct val="150000"/>
              </a:lnSpc>
              <a:buNone/>
              <a:tabLst>
                <a:tab pos="0" algn="l"/>
              </a:tabLst>
            </a:pPr>
            <a:r>
              <a:rPr lang="en-US" sz="2400" b="0" u="none" strike="noStrike" dirty="0">
                <a:solidFill>
                  <a:schemeClr val="dk1"/>
                </a:solidFill>
                <a:effectLst/>
                <a:uFillTx/>
                <a:latin typeface="Cabin"/>
                <a:ea typeface="Cabin"/>
              </a:rPr>
              <a:t>Cosmic Explorer successfully combines real-time space data and interactive technology to create a compelling educational platform. Its design balances advanced visual features with user-friendly navigation, making it ideal for learners and astronomy enthusiasts. Planned future enhancements aim to expand functionality further, ensuring continued relevance and engagement in space education.</a:t>
            </a:r>
            <a:endParaRPr lang="en-US" sz="2400" b="0" u="none" strike="noStrike" dirty="0">
              <a:solidFill>
                <a:srgbClr val="FFFFFF"/>
              </a:solidFill>
              <a:effectLst/>
              <a:uFillTx/>
              <a:latin typeface="OpenSymbol"/>
            </a:endParaRPr>
          </a:p>
        </p:txBody>
      </p:sp>
      <p:pic>
        <p:nvPicPr>
          <p:cNvPr id="6" name="Picture 5" descr="Orange person writing on a book&#10;&#10;AI-generated content may be incorrect.">
            <a:extLst>
              <a:ext uri="{FF2B5EF4-FFF2-40B4-BE49-F238E27FC236}">
                <a16:creationId xmlns:a16="http://schemas.microsoft.com/office/drawing/2014/main" id="{87DA5204-F435-8E85-4FF5-AE9DC6BD0419}"/>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1778445" y="1404668"/>
            <a:ext cx="6485732" cy="4969881"/>
          </a:xfrm>
          <a:prstGeom prst="rect">
            <a:avLst/>
          </a:prstGeom>
        </p:spPr>
      </p:pic>
    </p:spTree>
    <p:extLst>
      <p:ext uri="{BB962C8B-B14F-4D97-AF65-F5344CB8AC3E}">
        <p14:creationId xmlns:p14="http://schemas.microsoft.com/office/powerpoint/2010/main" val="1685112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FBF89-4384-EAC4-7908-775CCBA767A6}"/>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B1E3661B-92C0-BE5B-E8FC-35CF94A8792C}"/>
              </a:ext>
            </a:extLst>
          </p:cNvPr>
          <p:cNvCxnSpPr/>
          <p:nvPr/>
        </p:nvCxnSpPr>
        <p:spPr>
          <a:xfrm>
            <a:off x="914400" y="314215"/>
            <a:ext cx="11277600" cy="1235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D0B63A28-4AA6-29CA-2782-D29E074C82E9}"/>
              </a:ext>
            </a:extLst>
          </p:cNvPr>
          <p:cNvCxnSpPr/>
          <p:nvPr/>
        </p:nvCxnSpPr>
        <p:spPr>
          <a:xfrm flipV="1">
            <a:off x="0" y="6482245"/>
            <a:ext cx="12192000" cy="404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12717158-5125-C7FC-6750-1D6CEF5754EB}"/>
              </a:ext>
            </a:extLst>
          </p:cNvPr>
          <p:cNvCxnSpPr/>
          <p:nvPr/>
        </p:nvCxnSpPr>
        <p:spPr>
          <a:xfrm>
            <a:off x="11854815" y="0"/>
            <a:ext cx="3811"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DD5E534-586F-E261-3799-023123A01264}"/>
              </a:ext>
            </a:extLst>
          </p:cNvPr>
          <p:cNvCxnSpPr/>
          <p:nvPr/>
        </p:nvCxnSpPr>
        <p:spPr>
          <a:xfrm>
            <a:off x="332294" y="821094"/>
            <a:ext cx="9082" cy="60369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Google Shape;87;p1" descr="Goel Institute of Technology and Management (GITM) Lucknow Admission  2021-2021">
            <a:extLst>
              <a:ext uri="{FF2B5EF4-FFF2-40B4-BE49-F238E27FC236}">
                <a16:creationId xmlns:a16="http://schemas.microsoft.com/office/drawing/2014/main" id="{BA4EE1E7-FF0A-A5BA-4679-1EFAB275224D}"/>
              </a:ext>
            </a:extLst>
          </p:cNvPr>
          <p:cNvPicPr preferRelativeResize="0"/>
          <p:nvPr/>
        </p:nvPicPr>
        <p:blipFill rotWithShape="1">
          <a:blip r:embed="rId2">
            <a:alphaModFix/>
          </a:blip>
          <a:srcRect/>
          <a:stretch/>
        </p:blipFill>
        <p:spPr>
          <a:xfrm>
            <a:off x="205871" y="143070"/>
            <a:ext cx="615223" cy="584717"/>
          </a:xfrm>
          <a:prstGeom prst="rect">
            <a:avLst/>
          </a:prstGeom>
          <a:noFill/>
          <a:ln>
            <a:noFill/>
          </a:ln>
        </p:spPr>
      </p:pic>
      <p:pic>
        <p:nvPicPr>
          <p:cNvPr id="23" name="Picture 22">
            <a:extLst>
              <a:ext uri="{FF2B5EF4-FFF2-40B4-BE49-F238E27FC236}">
                <a16:creationId xmlns:a16="http://schemas.microsoft.com/office/drawing/2014/main" id="{D30AB9A8-A7AF-1D8E-86C4-BA1B411733A7}"/>
              </a:ext>
            </a:extLst>
          </p:cNvPr>
          <p:cNvPicPr>
            <a:picLocks noChangeAspect="1"/>
          </p:cNvPicPr>
          <p:nvPr/>
        </p:nvPicPr>
        <p:blipFill>
          <a:blip r:embed="rId3"/>
          <a:stretch>
            <a:fillRect/>
          </a:stretch>
        </p:blipFill>
        <p:spPr>
          <a:xfrm>
            <a:off x="6242052" y="-91440"/>
            <a:ext cx="5803895" cy="557348"/>
          </a:xfrm>
          <a:prstGeom prst="rect">
            <a:avLst/>
          </a:prstGeom>
        </p:spPr>
      </p:pic>
      <p:sp>
        <p:nvSpPr>
          <p:cNvPr id="2" name="Title 1">
            <a:extLst>
              <a:ext uri="{FF2B5EF4-FFF2-40B4-BE49-F238E27FC236}">
                <a16:creationId xmlns:a16="http://schemas.microsoft.com/office/drawing/2014/main" id="{9A1E743E-3163-BD7C-29D9-92D1A6FC7571}"/>
              </a:ext>
            </a:extLst>
          </p:cNvPr>
          <p:cNvSpPr>
            <a:spLocks noGrp="1"/>
          </p:cNvSpPr>
          <p:nvPr>
            <p:ph type="title" idx="4294967295"/>
          </p:nvPr>
        </p:nvSpPr>
        <p:spPr>
          <a:xfrm>
            <a:off x="1409384" y="997858"/>
            <a:ext cx="7639050" cy="1849437"/>
          </a:xfrm>
        </p:spPr>
        <p:txBody>
          <a:bodyPr>
            <a:normAutofit/>
          </a:bodyPr>
          <a:lstStyle/>
          <a:p>
            <a:r>
              <a:rPr lang="en" sz="8800" b="1" dirty="0">
                <a:solidFill>
                  <a:schemeClr val="dk1"/>
                </a:solidFill>
                <a:latin typeface="Syne"/>
                <a:ea typeface="Syne"/>
              </a:rPr>
              <a:t>       </a:t>
            </a:r>
            <a:r>
              <a:rPr lang="en" sz="9600" b="1" dirty="0">
                <a:solidFill>
                  <a:schemeClr val="dk1"/>
                </a:solidFill>
                <a:latin typeface="Syne"/>
                <a:ea typeface="Syne"/>
              </a:rPr>
              <a:t>Thanks!</a:t>
            </a:r>
            <a:endParaRPr lang="en-IN" sz="8800" dirty="0"/>
          </a:p>
        </p:txBody>
      </p:sp>
      <p:pic>
        <p:nvPicPr>
          <p:cNvPr id="10" name="Picture 9" descr="A black background with a black square&#10;&#10;AI-generated content may be incorrect.">
            <a:extLst>
              <a:ext uri="{FF2B5EF4-FFF2-40B4-BE49-F238E27FC236}">
                <a16:creationId xmlns:a16="http://schemas.microsoft.com/office/drawing/2014/main" id="{158183D5-3556-6500-D83E-6FA198D9BDAB}"/>
              </a:ext>
            </a:extLst>
          </p:cNvPr>
          <p:cNvPicPr>
            <a:picLocks noChangeAspect="1"/>
          </p:cNvPicPr>
          <p:nvPr/>
        </p:nvPicPr>
        <p:blipFill>
          <a:blip r:embed="rId4">
            <a:alphaModFix/>
            <a:extLst>
              <a:ext uri="{28A0092B-C50C-407E-A947-70E740481C1C}">
                <a14:useLocalDpi xmlns:a14="http://schemas.microsoft.com/office/drawing/2010/main" val="0"/>
              </a:ext>
            </a:extLst>
          </a:blip>
          <a:stretch>
            <a:fillRect/>
          </a:stretch>
        </p:blipFill>
        <p:spPr>
          <a:xfrm>
            <a:off x="3662149" y="2533941"/>
            <a:ext cx="2764457" cy="2764457"/>
          </a:xfrm>
          <a:prstGeom prst="rect">
            <a:avLst/>
          </a:prstGeom>
        </p:spPr>
      </p:pic>
    </p:spTree>
    <p:extLst>
      <p:ext uri="{BB962C8B-B14F-4D97-AF65-F5344CB8AC3E}">
        <p14:creationId xmlns:p14="http://schemas.microsoft.com/office/powerpoint/2010/main" val="370047650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188</TotalTime>
  <Words>522</Words>
  <Application>Microsoft Office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Aparajita</vt:lpstr>
      <vt:lpstr>Arial</vt:lpstr>
      <vt:lpstr>Bell MT</vt:lpstr>
      <vt:lpstr>Cabin</vt:lpstr>
      <vt:lpstr>OpenSymbol</vt:lpstr>
      <vt:lpstr>Syne</vt:lpstr>
      <vt:lpstr>Trebuchet MS</vt:lpstr>
      <vt:lpstr>Wingdings 3</vt:lpstr>
      <vt:lpstr>Facet</vt:lpstr>
      <vt:lpstr>PowerPoint Presentation</vt:lpstr>
      <vt:lpstr>Cosmic Explorer</vt:lpstr>
      <vt:lpstr>                           Introduction</vt:lpstr>
      <vt:lpstr>PROJECT OVERVIEW</vt:lpstr>
      <vt:lpstr>                    Objectives and Goals</vt:lpstr>
      <vt:lpstr>PowerPoint Presentation</vt:lpstr>
      <vt:lpstr>PowerPoint Presentation</vt:lpstr>
      <vt:lpstr>PowerPoint Presentation</vt:lpstr>
      <vt:lpstr>PowerPoint Presentation</vt:lpstr>
      <vt:lpstr>PowerPoint Presentation</vt:lpstr>
      <vt:lpstr>PowerPoint Presentation</vt:lpstr>
      <vt:lpstr>       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rohit yadav</dc:creator>
  <cp:lastModifiedBy>Sarthak Shukla</cp:lastModifiedBy>
  <cp:revision>3</cp:revision>
  <dcterms:created xsi:type="dcterms:W3CDTF">2025-09-30T09:50:59Z</dcterms:created>
  <dcterms:modified xsi:type="dcterms:W3CDTF">2025-12-23T17:56:44Z</dcterms:modified>
</cp:coreProperties>
</file>